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9" r:id="rId2"/>
    <p:sldId id="260" r:id="rId3"/>
    <p:sldId id="261" r:id="rId4"/>
    <p:sldId id="270" r:id="rId5"/>
    <p:sldId id="262" r:id="rId6"/>
    <p:sldId id="263" r:id="rId7"/>
    <p:sldId id="264" r:id="rId8"/>
    <p:sldId id="265" r:id="rId9"/>
    <p:sldId id="266"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660"/>
  </p:normalViewPr>
  <p:slideViewPr>
    <p:cSldViewPr snapToGrid="0">
      <p:cViewPr varScale="1">
        <p:scale>
          <a:sx n="82" d="100"/>
          <a:sy n="82" d="100"/>
        </p:scale>
        <p:origin x="8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custT="1"/>
      <dgm:spPr/>
      <dgm:t>
        <a:bodyPr/>
        <a:lstStyle/>
        <a:p>
          <a:pPr algn="just">
            <a:buNone/>
          </a:pPr>
          <a:endParaRPr lang="en-US" sz="1550" dirty="0">
            <a:latin typeface="Cambria" panose="02040503050406030204" pitchFamily="18" charset="0"/>
            <a:ea typeface="Cambria" panose="02040503050406030204" pitchFamily="18" charset="0"/>
          </a:endParaRPr>
        </a:p>
        <a:p>
          <a:pPr algn="just">
            <a:buNone/>
          </a:pPr>
          <a:r>
            <a:rPr lang="en-US" sz="1550" dirty="0">
              <a:latin typeface="Cambria" panose="02040503050406030204" pitchFamily="18" charset="0"/>
              <a:ea typeface="Cambria" panose="02040503050406030204" pitchFamily="18" charset="0"/>
            </a:rPr>
            <a:t>Training on tea plantation business domain, accounting workflow, and understanding data sources.</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Introduction to Tally, Excel, and basic reporting procedures</a:t>
          </a:r>
          <a:r>
            <a:rPr lang="en-US" sz="1550" dirty="0"/>
            <a:t>.</a:t>
          </a:r>
          <a:endParaRPr lang="en-US" sz="1550" dirty="0">
            <a:latin typeface="Times New Roman" panose="02020603050405020304" pitchFamily="18" charset="0"/>
            <a:cs typeface="Times New Roman" panose="02020603050405020304" pitchFamily="18" charset="0"/>
          </a:endParaRP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pPr algn="just">
            <a:buNone/>
          </a:pPr>
          <a:endParaRPr lang="en-US" sz="1100"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0" custT="1"/>
      <dgm:spPr/>
      <dgm:t>
        <a:bodyPr/>
        <a:lstStyle/>
        <a:p>
          <a:pPr algn="l"/>
          <a:endParaRPr lang="en-US" sz="1600" dirty="0">
            <a:latin typeface="Cambria" panose="02040503050406030204" pitchFamily="18" charset="0"/>
            <a:ea typeface="Cambria" panose="02040503050406030204" pitchFamily="18" charset="0"/>
          </a:endParaRPr>
        </a:p>
        <a:p>
          <a:pPr algn="l"/>
          <a:r>
            <a:rPr lang="en-US" sz="1600" dirty="0">
              <a:latin typeface="Cambria" panose="02040503050406030204" pitchFamily="18" charset="0"/>
              <a:ea typeface="Cambria" panose="02040503050406030204" pitchFamily="18" charset="0"/>
            </a:rPr>
            <a:t>Hands-on experience with Tally including sales, payment, receipt vouchers, and ledger maintenance.</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Support for audit-related data verification and record validation</a:t>
          </a:r>
          <a:r>
            <a:rPr lang="en-US" sz="1600" dirty="0"/>
            <a:t>.</a:t>
          </a:r>
          <a:endParaRPr lang="en-US" sz="1600"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00CCFEF6-765C-4B09-853C-FC677B1B38E7}">
      <dgm:prSet phldrT="[Text]"/>
      <dgm:spPr/>
      <dgm:t>
        <a:bodyPr/>
        <a:lstStyle/>
        <a:p>
          <a:pPr algn="r">
            <a:buNone/>
          </a:pPr>
          <a:endParaRPr lang="en-US" sz="1100" dirty="0">
            <a:latin typeface="Times New Roman" panose="02020603050405020304" pitchFamily="18" charset="0"/>
            <a:cs typeface="Times New Roman" panose="02020603050405020304" pitchFamily="18" charset="0"/>
          </a:endParaRPr>
        </a:p>
      </dgm:t>
    </dgm:pt>
    <dgm:pt modelId="{16F03AE4-D368-4DAB-9ABF-19849AD14EA8}" type="parTrans" cxnId="{23F0FD06-A017-4040-9348-2CA3B3ABE990}">
      <dgm:prSet/>
      <dgm:spPr/>
      <dgm:t>
        <a:bodyPr/>
        <a:lstStyle/>
        <a:p>
          <a:endParaRPr lang="en-IN"/>
        </a:p>
      </dgm:t>
    </dgm:pt>
    <dgm:pt modelId="{57C71E3C-AF89-420C-ACB7-4C64D27ED0E2}" type="sibTrans" cxnId="{23F0FD06-A017-4040-9348-2CA3B3ABE990}">
      <dgm:prSet/>
      <dgm:spPr/>
      <dgm:t>
        <a:bodyPr/>
        <a:lstStyle/>
        <a:p>
          <a:endParaRPr lang="en-IN"/>
        </a:p>
      </dgm:t>
    </dgm:pt>
    <dgm:pt modelId="{9B71A9C5-C7C2-49B1-9D9C-6739C22E605A}">
      <dgm:prSet custT="1"/>
      <dgm:spPr/>
      <dgm:t>
        <a:bodyPr/>
        <a:lstStyle/>
        <a:p>
          <a:pPr algn="l">
            <a:buNone/>
          </a:pPr>
          <a:r>
            <a:rPr lang="en-US" sz="1550" dirty="0">
              <a:latin typeface="Cambria" panose="02040503050406030204" pitchFamily="18" charset="0"/>
              <a:ea typeface="Cambria" panose="02040503050406030204" pitchFamily="18" charset="0"/>
            </a:rPr>
            <a:t>Data extraction from Tally to Excel.</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Data entry, data organization, and management of operational and financial datasets.</a:t>
          </a:r>
          <a:br>
            <a:rPr lang="en-US" sz="1550" dirty="0">
              <a:latin typeface="Cambria" panose="02040503050406030204" pitchFamily="18" charset="0"/>
              <a:ea typeface="Cambria" panose="02040503050406030204" pitchFamily="18" charset="0"/>
            </a:rPr>
          </a:br>
          <a:r>
            <a:rPr lang="en-US" sz="1550" dirty="0">
              <a:latin typeface="Cambria" panose="02040503050406030204" pitchFamily="18" charset="0"/>
              <a:ea typeface="Cambria" panose="02040503050406030204" pitchFamily="18" charset="0"/>
            </a:rPr>
            <a:t>Preparation of basic Excel reports and summaries.</a:t>
          </a:r>
        </a:p>
      </dgm:t>
    </dgm:pt>
    <dgm:pt modelId="{ED3787C6-47F3-42A1-807F-19C61DBB62F5}" type="parTrans" cxnId="{965B0B9F-4D59-4E2B-AA18-989284701D4F}">
      <dgm:prSet/>
      <dgm:spPr/>
      <dgm:t>
        <a:bodyPr/>
        <a:lstStyle/>
        <a:p>
          <a:endParaRPr lang="en-IN"/>
        </a:p>
      </dgm:t>
    </dgm:pt>
    <dgm:pt modelId="{9D9EA17F-2A23-45A5-80BA-887AE1C644F8}" type="sibTrans" cxnId="{965B0B9F-4D59-4E2B-AA18-989284701D4F}">
      <dgm:prSet/>
      <dgm:spPr/>
      <dgm:t>
        <a:bodyPr/>
        <a:lstStyle/>
        <a:p>
          <a:endParaRPr lang="en-IN"/>
        </a:p>
      </dgm:t>
    </dgm:pt>
    <dgm:pt modelId="{819305E8-211B-4AD7-BE9D-F47C5D7C4021}">
      <dgm:prSet custT="1"/>
      <dgm:spPr/>
      <dgm:t>
        <a:bodyPr/>
        <a:lstStyle/>
        <a:p>
          <a:pPr algn="l">
            <a:buNone/>
          </a:pPr>
          <a:endParaRPr lang="en-US" sz="1350" dirty="0"/>
        </a:p>
        <a:p>
          <a:pPr algn="l">
            <a:buNone/>
          </a:pPr>
          <a:r>
            <a:rPr lang="en-US" sz="1600" dirty="0">
              <a:latin typeface="Cambria" panose="02040503050406030204" pitchFamily="18" charset="0"/>
              <a:ea typeface="Cambria" panose="02040503050406030204" pitchFamily="18" charset="0"/>
            </a:rPr>
            <a:t>Data cleaning, transformation, and structuring of datasets.</a:t>
          </a:r>
        </a:p>
        <a:p>
          <a:pPr algn="l">
            <a:buNone/>
          </a:pP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Creation of charts, dashboards, and trend analysis using Power BI for business reporting</a:t>
          </a:r>
          <a:r>
            <a:rPr lang="en-US" sz="1350" dirty="0"/>
            <a:t>.</a:t>
          </a:r>
          <a:endParaRPr lang="en-IN" sz="1350" dirty="0"/>
        </a:p>
      </dgm:t>
    </dgm:pt>
    <dgm:pt modelId="{2AD953E2-4496-4334-9BCF-52F1064E76B1}" type="parTrans" cxnId="{0E863C2B-EC6D-4FD3-9EB6-003BF4D562A0}">
      <dgm:prSet/>
      <dgm:spPr/>
      <dgm:t>
        <a:bodyPr/>
        <a:lstStyle/>
        <a:p>
          <a:endParaRPr lang="en-IN"/>
        </a:p>
      </dgm:t>
    </dgm:pt>
    <dgm:pt modelId="{CF01FC87-235C-49FA-AD29-7F0292834058}" type="sibTrans" cxnId="{0E863C2B-EC6D-4FD3-9EB6-003BF4D562A0}">
      <dgm:prSet/>
      <dgm:spPr/>
      <dgm:t>
        <a:bodyPr/>
        <a:lstStyle/>
        <a:p>
          <a:endParaRPr lang="en-IN"/>
        </a:p>
      </dgm:t>
    </dgm:pt>
    <dgm:pt modelId="{47407E34-DB95-4BAC-8254-11B3753A77F8}">
      <dgm:prSet custT="1"/>
      <dgm:spPr/>
      <dgm:t>
        <a:bodyPr/>
        <a:lstStyle/>
        <a:p>
          <a:pPr algn="r">
            <a:buNone/>
          </a:pPr>
          <a:endParaRPr lang="en-US" sz="1500" dirty="0"/>
        </a:p>
        <a:p>
          <a:pPr algn="l">
            <a:buNone/>
          </a:pPr>
          <a:r>
            <a:rPr lang="en-US" sz="1550" dirty="0"/>
            <a:t>Presentation of overall learning and core data analytics work performed.</a:t>
          </a:r>
        </a:p>
        <a:p>
          <a:pPr algn="l">
            <a:buNone/>
          </a:pPr>
          <a:br>
            <a:rPr lang="en-US" sz="1550" dirty="0"/>
          </a:br>
          <a:r>
            <a:rPr lang="en-US" sz="1550" dirty="0"/>
            <a:t>Explanation of data handling, reporting, visualization techniques, and key insights gained during the internship.</a:t>
          </a:r>
          <a:endParaRPr lang="en-IN" sz="1550" dirty="0"/>
        </a:p>
      </dgm:t>
    </dgm:pt>
    <dgm:pt modelId="{571316E6-5BA8-445E-87DD-3B0CFBBC5585}" type="parTrans" cxnId="{2E9240A7-2A9A-466B-B891-5B4229611AEC}">
      <dgm:prSet/>
      <dgm:spPr/>
      <dgm:t>
        <a:bodyPr/>
        <a:lstStyle/>
        <a:p>
          <a:endParaRPr lang="en-IN"/>
        </a:p>
      </dgm:t>
    </dgm:pt>
    <dgm:pt modelId="{7DCDDE4C-CE85-49FA-825A-83BB8BC64BFA}" type="sibTrans" cxnId="{2E9240A7-2A9A-466B-B891-5B4229611AEC}">
      <dgm:prSet/>
      <dgm:spPr/>
      <dgm:t>
        <a:bodyPr/>
        <a:lstStyle/>
        <a:p>
          <a:endParaRPr lang="en-IN"/>
        </a:p>
      </dgm:t>
    </dgm:pt>
    <dgm:pt modelId="{AE361D03-80A7-4F21-8C8C-BAA903F3816B}">
      <dgm:prSet/>
      <dgm:spPr/>
      <dgm:t>
        <a:bodyPr/>
        <a:lstStyle/>
        <a:p>
          <a:pPr algn="r">
            <a:buNone/>
          </a:pPr>
          <a:endParaRPr lang="en-US" sz="1500" dirty="0"/>
        </a:p>
      </dgm:t>
    </dgm:pt>
    <dgm:pt modelId="{12627B51-F088-4AF5-AB62-F3AD37B513F4}" type="parTrans" cxnId="{0668F288-9EBF-40BA-8929-FC31D31E183D}">
      <dgm:prSet/>
      <dgm:spPr/>
      <dgm:t>
        <a:bodyPr/>
        <a:lstStyle/>
        <a:p>
          <a:endParaRPr lang="en-IN"/>
        </a:p>
      </dgm:t>
    </dgm:pt>
    <dgm:pt modelId="{42524755-3068-408F-BEFA-E606866580DC}" type="sibTrans" cxnId="{0668F288-9EBF-40BA-8929-FC31D31E183D}">
      <dgm:prSet/>
      <dgm:spPr/>
      <dgm:t>
        <a:bodyPr/>
        <a:lstStyle/>
        <a:p>
          <a:endParaRPr lang="en-IN"/>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custScaleY="104514" custLinFactNeighborX="1772" custLinFactNeighborY="1487"/>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custScaleY="111711" custLinFactNeighborX="1180" custLinFactNeighborY="351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custScaleY="116593" custLinFactNeighborX="2810" custLinFactNeighborY="9061"/>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custScaleY="118339" custLinFactNeighborX="-1" custLinFactNeighborY="9337"/>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23F0FD06-A017-4040-9348-2CA3B3ABE990}" srcId="{7B3055AA-BF7C-46D0-9A9E-60087B9F57B4}" destId="{00CCFEF6-765C-4B09-853C-FC677B1B38E7}" srcOrd="2" destOrd="0" parTransId="{16F03AE4-D368-4DAB-9ABF-19849AD14EA8}" sibTransId="{57C71E3C-AF89-420C-ACB7-4C64D27ED0E2}"/>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5D02BC27-79CE-4AE2-9992-A09C6145FD24}" type="presOf" srcId="{9B71A9C5-C7C2-49B1-9D9C-6739C22E605A}" destId="{6BCCFBA6-7A43-4631-AD7F-AFB10E1E6CD7}" srcOrd="1" destOrd="1" presId="urn:microsoft.com/office/officeart/2011/layout/InterconnectedBlockProcess"/>
    <dgm:cxn modelId="{0E863C2B-EC6D-4FD3-9EB6-003BF4D562A0}" srcId="{5E92505A-51E0-4F78-B3C5-704ACF8710DE}" destId="{819305E8-211B-4AD7-BE9D-F47C5D7C4021}" srcOrd="0" destOrd="0" parTransId="{2AD953E2-4496-4334-9BCF-52F1064E76B1}" sibTransId="{CF01FC87-235C-49FA-AD29-7F0292834058}"/>
    <dgm:cxn modelId="{BD4D063F-4481-4272-86B1-D2EA110CC162}" type="presOf" srcId="{73DB572E-062D-41AD-8033-D361B8E583DB}" destId="{0D08ED52-6744-4369-B780-916B09984775}" srcOrd="1" destOrd="0" presId="urn:microsoft.com/office/officeart/2011/layout/InterconnectedBlockProcess"/>
    <dgm:cxn modelId="{0CAAC844-EBCD-45CF-B88E-6D190F0BCDD2}" type="presOf" srcId="{AE361D03-80A7-4F21-8C8C-BAA903F3816B}" destId="{928B615F-0F8D-4140-A638-0FBB8F5BF1E9}" srcOrd="1" destOrd="1" presId="urn:microsoft.com/office/officeart/2011/layout/InterconnectedBlockProcess"/>
    <dgm:cxn modelId="{EE72074D-A712-4380-98C2-ED81FF856FC6}" type="presOf" srcId="{AE361D03-80A7-4F21-8C8C-BAA903F3816B}" destId="{8CAE5A4D-0C7B-48A6-917B-0B8433D0574B}" srcOrd="0" destOrd="1"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0668F288-9EBF-40BA-8929-FC31D31E183D}" srcId="{65C051F6-A849-4495-A964-CD4C650B9C06}" destId="{AE361D03-80A7-4F21-8C8C-BAA903F3816B}" srcOrd="1" destOrd="0" parTransId="{12627B51-F088-4AF5-AB62-F3AD37B513F4}" sibTransId="{42524755-3068-408F-BEFA-E606866580DC}"/>
    <dgm:cxn modelId="{5C3C918A-4C4A-4DEB-924A-CC330C09FB27}" type="presOf" srcId="{5E92505A-51E0-4F78-B3C5-704ACF8710DE}" destId="{2AAD338D-3122-4454-9A67-16BE024D44E3}" srcOrd="0" destOrd="0" presId="urn:microsoft.com/office/officeart/2011/layout/InterconnectedBlockProcess"/>
    <dgm:cxn modelId="{474C5B93-3F0D-4094-AC86-D5FD04789F1D}" type="presOf" srcId="{00CCFEF6-765C-4B09-853C-FC677B1B38E7}" destId="{06F8D57B-EDF4-4CF4-8700-DC2CA3E3028E}" srcOrd="0" destOrd="2"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965B0B9F-4D59-4E2B-AA18-989284701D4F}" srcId="{7B3055AA-BF7C-46D0-9A9E-60087B9F57B4}" destId="{9B71A9C5-C7C2-49B1-9D9C-6739C22E605A}" srcOrd="1" destOrd="0" parTransId="{ED3787C6-47F3-42A1-807F-19C61DBB62F5}" sibTransId="{9D9EA17F-2A23-45A5-80BA-887AE1C644F8}"/>
    <dgm:cxn modelId="{25C83D9F-B12A-43EF-8599-6589093E1A69}" type="presOf" srcId="{9FED87C4-3F3B-4A18-9185-9F80CFEDEA2E}" destId="{06F8D57B-EDF4-4CF4-8700-DC2CA3E3028E}" srcOrd="0" destOrd="0" presId="urn:microsoft.com/office/officeart/2011/layout/InterconnectedBlockProcess"/>
    <dgm:cxn modelId="{2E9240A7-2A9A-466B-B891-5B4229611AEC}" srcId="{65C051F6-A849-4495-A964-CD4C650B9C06}" destId="{47407E34-DB95-4BAC-8254-11B3753A77F8}" srcOrd="0" destOrd="0" parTransId="{571316E6-5BA8-445E-87DD-3B0CFBBC5585}" sibTransId="{7DCDDE4C-CE85-49FA-825A-83BB8BC64BFA}"/>
    <dgm:cxn modelId="{DA2360A8-18A8-493D-8936-6321A175407B}" type="presOf" srcId="{47407E34-DB95-4BAC-8254-11B3753A77F8}" destId="{8CAE5A4D-0C7B-48A6-917B-0B8433D0574B}" srcOrd="0" destOrd="0" presId="urn:microsoft.com/office/officeart/2011/layout/InterconnectedBlockProcess"/>
    <dgm:cxn modelId="{8092EAAA-8C45-4401-9F81-184ACDD17A52}" type="presOf" srcId="{47407E34-DB95-4BAC-8254-11B3753A77F8}" destId="{928B615F-0F8D-4140-A638-0FBB8F5BF1E9}" srcOrd="1" destOrd="0" presId="urn:microsoft.com/office/officeart/2011/layout/InterconnectedBlockProcess"/>
    <dgm:cxn modelId="{5A8EC8AD-DA55-4C77-838E-518180C75D14}" type="presOf" srcId="{819305E8-211B-4AD7-BE9D-F47C5D7C4021}" destId="{98225A61-A0EC-450A-BED8-EF2E47E8FD18}" srcOrd="1"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7D3CEFBC-D3A0-451E-967E-D19E767EA30E}" type="presOf" srcId="{819305E8-211B-4AD7-BE9D-F47C5D7C4021}" destId="{FC0F1314-3294-4A8C-8DCE-EB53E236164C}"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868628D5-5A05-45C5-B0AA-9B2AE0EDFFCE}" type="presOf" srcId="{00CCFEF6-765C-4B09-853C-FC677B1B38E7}" destId="{6BCCFBA6-7A43-4631-AD7F-AFB10E1E6CD7}" srcOrd="1" destOrd="2"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61E99FFB-4E8B-4DE2-B0DD-FEEABCF9E3BD}" type="presOf" srcId="{9B71A9C5-C7C2-49B1-9D9C-6739C22E605A}" destId="{06F8D57B-EDF4-4CF4-8700-DC2CA3E3028E}" srcOrd="0" destOrd="1" presId="urn:microsoft.com/office/officeart/2011/layout/InterconnectedBlockProcess"/>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740438" y="1003973"/>
          <a:ext cx="1581245" cy="4015895"/>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625" tIns="47625" rIns="47625" bIns="47625" numCol="1" spcCol="1270" anchor="t" anchorCtr="0">
          <a:noAutofit/>
        </a:bodyPr>
        <a:lstStyle/>
        <a:p>
          <a:pPr marL="0" lvl="0" indent="0" algn="r" defTabSz="666750">
            <a:lnSpc>
              <a:spcPct val="90000"/>
            </a:lnSpc>
            <a:spcBef>
              <a:spcPct val="0"/>
            </a:spcBef>
            <a:spcAft>
              <a:spcPct val="35000"/>
            </a:spcAft>
            <a:buNone/>
          </a:pPr>
          <a:endParaRPr lang="en-US" sz="1500" kern="1200" dirty="0"/>
        </a:p>
        <a:p>
          <a:pPr marL="0" lvl="0" indent="0" algn="l" defTabSz="666750">
            <a:lnSpc>
              <a:spcPct val="90000"/>
            </a:lnSpc>
            <a:spcBef>
              <a:spcPct val="0"/>
            </a:spcBef>
            <a:spcAft>
              <a:spcPct val="35000"/>
            </a:spcAft>
            <a:buNone/>
          </a:pPr>
          <a:r>
            <a:rPr lang="en-US" sz="1550" kern="1200" dirty="0"/>
            <a:t>Presentation of overall learning and core data analytics work performed.</a:t>
          </a:r>
        </a:p>
        <a:p>
          <a:pPr marL="0" lvl="0" indent="0" algn="l" defTabSz="666750">
            <a:lnSpc>
              <a:spcPct val="90000"/>
            </a:lnSpc>
            <a:spcBef>
              <a:spcPct val="0"/>
            </a:spcBef>
            <a:spcAft>
              <a:spcPct val="35000"/>
            </a:spcAft>
            <a:buNone/>
          </a:pPr>
          <a:br>
            <a:rPr lang="en-US" sz="1550" kern="1200" dirty="0"/>
          </a:br>
          <a:r>
            <a:rPr lang="en-US" sz="1550" kern="1200" dirty="0"/>
            <a:t>Explanation of data handling, reporting, visualization techniques, and key insights gained during the internship.</a:t>
          </a:r>
          <a:endParaRPr lang="en-IN" sz="1550" kern="1200" dirty="0"/>
        </a:p>
        <a:p>
          <a:pPr marL="0" lvl="0" indent="0" algn="r" defTabSz="666750">
            <a:lnSpc>
              <a:spcPct val="90000"/>
            </a:lnSpc>
            <a:spcBef>
              <a:spcPct val="0"/>
            </a:spcBef>
            <a:spcAft>
              <a:spcPct val="35000"/>
            </a:spcAft>
            <a:buNone/>
          </a:pPr>
          <a:endParaRPr lang="en-US" sz="1500" kern="1200" dirty="0"/>
        </a:p>
      </dsp:txBody>
      <dsp:txXfrm>
        <a:off x="7941155" y="1003973"/>
        <a:ext cx="1380527" cy="4015895"/>
      </dsp:txXfrm>
    </dsp:sp>
    <dsp:sp modelId="{C73DE52A-2F45-45E6-AD0E-D5BEAF609F8E}">
      <dsp:nvSpPr>
        <dsp:cNvPr id="0" name=""/>
        <dsp:cNvSpPr/>
      </dsp:nvSpPr>
      <dsp:spPr>
        <a:xfrm>
          <a:off x="7740438" y="0"/>
          <a:ext cx="1581245" cy="100397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Final Review</a:t>
          </a:r>
        </a:p>
      </dsp:txBody>
      <dsp:txXfrm>
        <a:off x="7740438" y="0"/>
        <a:ext cx="1581245" cy="1003973"/>
      </dsp:txXfrm>
    </dsp:sp>
    <dsp:sp modelId="{FC0F1314-3294-4A8C-8DCE-EB53E236164C}">
      <dsp:nvSpPr>
        <dsp:cNvPr id="0" name=""/>
        <dsp:cNvSpPr/>
      </dsp:nvSpPr>
      <dsp:spPr>
        <a:xfrm>
          <a:off x="6191163" y="974984"/>
          <a:ext cx="1581245" cy="3934849"/>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l" defTabSz="600075">
            <a:lnSpc>
              <a:spcPct val="90000"/>
            </a:lnSpc>
            <a:spcBef>
              <a:spcPct val="0"/>
            </a:spcBef>
            <a:spcAft>
              <a:spcPct val="35000"/>
            </a:spcAft>
            <a:buNone/>
          </a:pPr>
          <a:endParaRPr lang="en-US" sz="1350" kern="1200" dirty="0"/>
        </a:p>
        <a:p>
          <a:pPr marL="0" lvl="0" indent="0" algn="l" defTabSz="600075">
            <a:lnSpc>
              <a:spcPct val="90000"/>
            </a:lnSpc>
            <a:spcBef>
              <a:spcPct val="0"/>
            </a:spcBef>
            <a:spcAft>
              <a:spcPct val="35000"/>
            </a:spcAft>
            <a:buNone/>
          </a:pPr>
          <a:r>
            <a:rPr lang="en-US" sz="1600" kern="1200" dirty="0">
              <a:latin typeface="Cambria" panose="02040503050406030204" pitchFamily="18" charset="0"/>
              <a:ea typeface="Cambria" panose="02040503050406030204" pitchFamily="18" charset="0"/>
            </a:rPr>
            <a:t>Data cleaning, transformation, and structuring of datasets.</a:t>
          </a:r>
        </a:p>
        <a:p>
          <a:pPr marL="0" lvl="0" indent="0" algn="l" defTabSz="600075">
            <a:lnSpc>
              <a:spcPct val="90000"/>
            </a:lnSpc>
            <a:spcBef>
              <a:spcPct val="0"/>
            </a:spcBef>
            <a:spcAft>
              <a:spcPct val="35000"/>
            </a:spcAft>
            <a:buNone/>
          </a:pPr>
          <a:br>
            <a:rPr lang="en-US" sz="1600" kern="1200" dirty="0">
              <a:latin typeface="Cambria" panose="02040503050406030204" pitchFamily="18" charset="0"/>
              <a:ea typeface="Cambria" panose="02040503050406030204" pitchFamily="18" charset="0"/>
            </a:rPr>
          </a:br>
          <a:r>
            <a:rPr lang="en-US" sz="1600" kern="1200" dirty="0">
              <a:latin typeface="Cambria" panose="02040503050406030204" pitchFamily="18" charset="0"/>
              <a:ea typeface="Cambria" panose="02040503050406030204" pitchFamily="18" charset="0"/>
            </a:rPr>
            <a:t>Creation of charts, dashboards, and trend analysis using Power BI for business reporting</a:t>
          </a:r>
          <a:r>
            <a:rPr lang="en-US" sz="1350" kern="1200" dirty="0"/>
            <a:t>.</a:t>
          </a:r>
          <a:endParaRPr lang="en-IN" sz="1350" kern="1200" dirty="0"/>
        </a:p>
      </dsp:txBody>
      <dsp:txXfrm>
        <a:off x="6391880" y="974984"/>
        <a:ext cx="1380527" cy="3934849"/>
      </dsp:txXfrm>
    </dsp:sp>
    <dsp:sp modelId="{2AAD338D-3122-4454-9A67-16BE024D44E3}">
      <dsp:nvSpPr>
        <dsp:cNvPr id="0" name=""/>
        <dsp:cNvSpPr/>
      </dsp:nvSpPr>
      <dsp:spPr>
        <a:xfrm>
          <a:off x="6163143" y="125496"/>
          <a:ext cx="1581245" cy="87847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4</a:t>
          </a:r>
        </a:p>
      </dsp:txBody>
      <dsp:txXfrm>
        <a:off x="6163143" y="125496"/>
        <a:ext cx="1581245" cy="878477"/>
      </dsp:txXfrm>
    </dsp:sp>
    <dsp:sp modelId="{2532504F-5FE1-4C97-B485-F05E8885EACC}">
      <dsp:nvSpPr>
        <dsp:cNvPr id="0" name=""/>
        <dsp:cNvSpPr/>
      </dsp:nvSpPr>
      <dsp:spPr>
        <a:xfrm>
          <a:off x="4600556" y="921730"/>
          <a:ext cx="1581245" cy="3925422"/>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l" defTabSz="711200">
            <a:lnSpc>
              <a:spcPct val="90000"/>
            </a:lnSpc>
            <a:spcBef>
              <a:spcPct val="0"/>
            </a:spcBef>
            <a:spcAft>
              <a:spcPct val="35000"/>
            </a:spcAft>
            <a:buNone/>
          </a:pPr>
          <a:endParaRPr lang="en-US" sz="1600" kern="1200" dirty="0">
            <a:latin typeface="Cambria" panose="02040503050406030204" pitchFamily="18" charset="0"/>
            <a:ea typeface="Cambria" panose="02040503050406030204" pitchFamily="18" charset="0"/>
          </a:endParaRPr>
        </a:p>
        <a:p>
          <a:pPr marL="0" lvl="0" indent="0" algn="l" defTabSz="711200">
            <a:lnSpc>
              <a:spcPct val="90000"/>
            </a:lnSpc>
            <a:spcBef>
              <a:spcPct val="0"/>
            </a:spcBef>
            <a:spcAft>
              <a:spcPct val="35000"/>
            </a:spcAft>
            <a:buNone/>
          </a:pPr>
          <a:r>
            <a:rPr lang="en-US" sz="1600" kern="1200" dirty="0">
              <a:latin typeface="Cambria" panose="02040503050406030204" pitchFamily="18" charset="0"/>
              <a:ea typeface="Cambria" panose="02040503050406030204" pitchFamily="18" charset="0"/>
            </a:rPr>
            <a:t>Hands-on experience with Tally including sales, payment, receipt vouchers, and ledger maintenance.</a:t>
          </a:r>
          <a:br>
            <a:rPr lang="en-US" sz="1600" kern="1200" dirty="0">
              <a:latin typeface="Cambria" panose="02040503050406030204" pitchFamily="18" charset="0"/>
              <a:ea typeface="Cambria" panose="02040503050406030204" pitchFamily="18" charset="0"/>
            </a:rPr>
          </a:br>
          <a:r>
            <a:rPr lang="en-US" sz="1600" kern="1200" dirty="0">
              <a:latin typeface="Cambria" panose="02040503050406030204" pitchFamily="18" charset="0"/>
              <a:ea typeface="Cambria" panose="02040503050406030204" pitchFamily="18" charset="0"/>
            </a:rPr>
            <a:t>Support for audit-related data verification and record validation</a:t>
          </a:r>
          <a:r>
            <a:rPr lang="en-US" sz="1600" kern="1200" dirty="0"/>
            <a:t>.</a:t>
          </a:r>
          <a:endParaRPr lang="en-US" sz="1600" kern="1200" dirty="0">
            <a:latin typeface="Times New Roman" panose="02020603050405020304" pitchFamily="18" charset="0"/>
            <a:cs typeface="Times New Roman" panose="02020603050405020304" pitchFamily="18" charset="0"/>
          </a:endParaRPr>
        </a:p>
      </dsp:txBody>
      <dsp:txXfrm>
        <a:off x="4801274" y="921730"/>
        <a:ext cx="1380527" cy="3925422"/>
      </dsp:txXfrm>
    </dsp:sp>
    <dsp:sp modelId="{4C66D42D-7E6D-4563-AFDC-369C30B73F70}">
      <dsp:nvSpPr>
        <dsp:cNvPr id="0" name=""/>
        <dsp:cNvSpPr/>
      </dsp:nvSpPr>
      <dsp:spPr>
        <a:xfrm>
          <a:off x="4581897" y="255009"/>
          <a:ext cx="1581245" cy="75298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3</a:t>
          </a:r>
        </a:p>
      </dsp:txBody>
      <dsp:txXfrm>
        <a:off x="4581897" y="255009"/>
        <a:ext cx="1581245" cy="752980"/>
      </dsp:txXfrm>
    </dsp:sp>
    <dsp:sp modelId="{06F8D57B-EDF4-4CF4-8700-DC2CA3E3028E}">
      <dsp:nvSpPr>
        <dsp:cNvPr id="0" name=""/>
        <dsp:cNvSpPr/>
      </dsp:nvSpPr>
      <dsp:spPr>
        <a:xfrm>
          <a:off x="3045084" y="1028918"/>
          <a:ext cx="1581245" cy="3804330"/>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just" defTabSz="488950">
            <a:lnSpc>
              <a:spcPct val="90000"/>
            </a:lnSpc>
            <a:spcBef>
              <a:spcPct val="0"/>
            </a:spcBef>
            <a:spcAft>
              <a:spcPct val="35000"/>
            </a:spcAft>
            <a:buNone/>
          </a:pPr>
          <a:endParaRPr lang="en-US" sz="1100" kern="1200" dirty="0">
            <a:latin typeface="Times New Roman" panose="02020603050405020304" pitchFamily="18" charset="0"/>
            <a:cs typeface="Times New Roman" panose="02020603050405020304" pitchFamily="18" charset="0"/>
          </a:endParaRPr>
        </a:p>
        <a:p>
          <a:pPr marL="0" lvl="0" indent="0" algn="l" defTabSz="688975">
            <a:lnSpc>
              <a:spcPct val="90000"/>
            </a:lnSpc>
            <a:spcBef>
              <a:spcPct val="0"/>
            </a:spcBef>
            <a:spcAft>
              <a:spcPct val="35000"/>
            </a:spcAft>
            <a:buNone/>
          </a:pPr>
          <a:r>
            <a:rPr lang="en-US" sz="1550" kern="1200" dirty="0">
              <a:latin typeface="Cambria" panose="02040503050406030204" pitchFamily="18" charset="0"/>
              <a:ea typeface="Cambria" panose="02040503050406030204" pitchFamily="18" charset="0"/>
            </a:rPr>
            <a:t>Data extraction from Tally to Excel.</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Data entry, data organization, and management of operational and financial datasets.</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Preparation of basic Excel reports and summaries.</a:t>
          </a:r>
        </a:p>
        <a:p>
          <a:pPr marL="0" lvl="0" indent="0" algn="r" defTabSz="488950">
            <a:lnSpc>
              <a:spcPct val="90000"/>
            </a:lnSpc>
            <a:spcBef>
              <a:spcPct val="0"/>
            </a:spcBef>
            <a:spcAft>
              <a:spcPct val="35000"/>
            </a:spcAft>
            <a:buNone/>
          </a:pPr>
          <a:endParaRPr lang="en-US" sz="1100" kern="1200" dirty="0">
            <a:latin typeface="Times New Roman" panose="02020603050405020304" pitchFamily="18" charset="0"/>
            <a:cs typeface="Times New Roman" panose="02020603050405020304" pitchFamily="18" charset="0"/>
          </a:endParaRPr>
        </a:p>
      </dsp:txBody>
      <dsp:txXfrm>
        <a:off x="3245802" y="1028918"/>
        <a:ext cx="1380527" cy="3804330"/>
      </dsp:txXfrm>
    </dsp:sp>
    <dsp:sp modelId="{00BB3360-A9BB-4051-A4B1-1216F82F642C}">
      <dsp:nvSpPr>
        <dsp:cNvPr id="0" name=""/>
        <dsp:cNvSpPr/>
      </dsp:nvSpPr>
      <dsp:spPr>
        <a:xfrm>
          <a:off x="3000651" y="376490"/>
          <a:ext cx="1581245" cy="62748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2</a:t>
          </a:r>
        </a:p>
      </dsp:txBody>
      <dsp:txXfrm>
        <a:off x="3000651" y="376490"/>
        <a:ext cx="1581245" cy="627483"/>
      </dsp:txXfrm>
    </dsp:sp>
    <dsp:sp modelId="{A134CDD1-D85F-44EF-8BEE-9F99A855C1E6}">
      <dsp:nvSpPr>
        <dsp:cNvPr id="0" name=""/>
        <dsp:cNvSpPr/>
      </dsp:nvSpPr>
      <dsp:spPr>
        <a:xfrm>
          <a:off x="1419390" y="1009018"/>
          <a:ext cx="1581245" cy="356427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50800" rIns="50800" bIns="50800" numCol="1" spcCol="1270" anchor="t" anchorCtr="0">
          <a:noAutofit/>
        </a:bodyPr>
        <a:lstStyle/>
        <a:p>
          <a:pPr marL="0" lvl="0" indent="0" algn="just" defTabSz="688975">
            <a:lnSpc>
              <a:spcPct val="90000"/>
            </a:lnSpc>
            <a:spcBef>
              <a:spcPct val="0"/>
            </a:spcBef>
            <a:spcAft>
              <a:spcPct val="35000"/>
            </a:spcAft>
            <a:buNone/>
          </a:pPr>
          <a:endParaRPr lang="en-US" sz="1550" kern="1200" dirty="0">
            <a:latin typeface="Cambria" panose="02040503050406030204" pitchFamily="18" charset="0"/>
            <a:ea typeface="Cambria" panose="02040503050406030204" pitchFamily="18" charset="0"/>
          </a:endParaRPr>
        </a:p>
        <a:p>
          <a:pPr marL="0" lvl="0" indent="0" algn="just" defTabSz="688975">
            <a:lnSpc>
              <a:spcPct val="90000"/>
            </a:lnSpc>
            <a:spcBef>
              <a:spcPct val="0"/>
            </a:spcBef>
            <a:spcAft>
              <a:spcPct val="35000"/>
            </a:spcAft>
            <a:buNone/>
          </a:pPr>
          <a:r>
            <a:rPr lang="en-US" sz="1550" kern="1200" dirty="0">
              <a:latin typeface="Cambria" panose="02040503050406030204" pitchFamily="18" charset="0"/>
              <a:ea typeface="Cambria" panose="02040503050406030204" pitchFamily="18" charset="0"/>
            </a:rPr>
            <a:t>Training on tea plantation business domain, accounting workflow, and understanding data sources.</a:t>
          </a:r>
          <a:br>
            <a:rPr lang="en-US" sz="1550" kern="1200" dirty="0">
              <a:latin typeface="Cambria" panose="02040503050406030204" pitchFamily="18" charset="0"/>
              <a:ea typeface="Cambria" panose="02040503050406030204" pitchFamily="18" charset="0"/>
            </a:rPr>
          </a:br>
          <a:r>
            <a:rPr lang="en-US" sz="1550" kern="1200" dirty="0">
              <a:latin typeface="Cambria" panose="02040503050406030204" pitchFamily="18" charset="0"/>
              <a:ea typeface="Cambria" panose="02040503050406030204" pitchFamily="18" charset="0"/>
            </a:rPr>
            <a:t>Introduction to Tally, Excel, and basic reporting procedures</a:t>
          </a:r>
          <a:r>
            <a:rPr lang="en-US" sz="1550" kern="1200" dirty="0"/>
            <a:t>.</a:t>
          </a:r>
          <a:endParaRPr lang="en-US" sz="1550" kern="1200" dirty="0">
            <a:latin typeface="Times New Roman" panose="02020603050405020304" pitchFamily="18" charset="0"/>
            <a:cs typeface="Times New Roman" panose="02020603050405020304" pitchFamily="18" charset="0"/>
          </a:endParaRPr>
        </a:p>
      </dsp:txBody>
      <dsp:txXfrm>
        <a:off x="1620108" y="1009018"/>
        <a:ext cx="1380527" cy="3564277"/>
      </dsp:txXfrm>
    </dsp:sp>
    <dsp:sp modelId="{65257024-FAC0-4522-B139-1CC85B547BE8}">
      <dsp:nvSpPr>
        <dsp:cNvPr id="0" name=""/>
        <dsp:cNvSpPr/>
      </dsp:nvSpPr>
      <dsp:spPr>
        <a:xfrm>
          <a:off x="1419406" y="501986"/>
          <a:ext cx="1581245" cy="50198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375" tIns="79375" rIns="79375" bIns="793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Review 1</a:t>
          </a:r>
        </a:p>
      </dsp:txBody>
      <dsp:txXfrm>
        <a:off x="1419406" y="501986"/>
        <a:ext cx="1581245" cy="501986"/>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16/01/2026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5835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16-01-2026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16-01-2026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16-01-2026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16-01-2026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16-01-2026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16-01-2026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16-01-2026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16-01-2026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16-01-2026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16-01-2026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16-01-2026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16-01-2026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075791" y="2109718"/>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2000" b="1" dirty="0">
                <a:solidFill>
                  <a:srgbClr val="17365D"/>
                </a:solidFill>
                <a:latin typeface="Cambria" panose="02040503050406030204" pitchFamily="18" charset="0"/>
                <a:ea typeface="Cambria" panose="02040503050406030204" pitchFamily="18" charset="0"/>
                <a:cs typeface="Verdana"/>
                <a:sym typeface="Verdana"/>
              </a:rPr>
              <a:t>                     </a:t>
            </a:r>
            <a:r>
              <a:rPr lang="en-GB" sz="2000" b="1" dirty="0" err="1">
                <a:solidFill>
                  <a:srgbClr val="17365D"/>
                </a:solidFill>
                <a:latin typeface="Cambria" panose="02040503050406030204" pitchFamily="18" charset="0"/>
                <a:ea typeface="Cambria" panose="02040503050406030204" pitchFamily="18" charset="0"/>
                <a:cs typeface="Verdana"/>
                <a:sym typeface="Verdana"/>
              </a:rPr>
              <a:t>Dr.Taranath</a:t>
            </a:r>
            <a:r>
              <a:rPr lang="en-GB" sz="2000" b="1" dirty="0">
                <a:solidFill>
                  <a:srgbClr val="17365D"/>
                </a:solidFill>
                <a:latin typeface="Cambria" panose="02040503050406030204" pitchFamily="18" charset="0"/>
                <a:ea typeface="Cambria" panose="02040503050406030204" pitchFamily="18" charset="0"/>
                <a:cs typeface="Verdana"/>
                <a:sym typeface="Verdana"/>
              </a:rPr>
              <a:t> N L</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Associate Professor</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School of CSE</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sz="20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IN" sz="2000" b="1" dirty="0">
                <a:latin typeface="Cambria" panose="02040503050406030204" pitchFamily="18" charset="0"/>
                <a:ea typeface="Cambria" panose="02040503050406030204" pitchFamily="18" charset="0"/>
              </a:rPr>
              <a:t>CSE7302- INTERNSHIP</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IN" sz="2000" b="1" dirty="0">
                <a:latin typeface="Cambria" panose="02040503050406030204" pitchFamily="18" charset="0"/>
                <a:ea typeface="Cambria" panose="02040503050406030204" pitchFamily="18" charset="0"/>
              </a:rPr>
              <a:t>Dr. Asif Mohammed </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latin typeface="Cambria" panose="02040503050406030204" pitchFamily="18" charset="0"/>
                <a:ea typeface="Cambria" panose="02040503050406030204" pitchFamily="18" charset="0"/>
                <a:cs typeface="Verdana"/>
                <a:sym typeface="Verdana"/>
              </a:rPr>
              <a:t>Mr. Sakthi S</a:t>
            </a:r>
            <a:endParaRPr lang="en-US" sz="2000" b="1" i="0" u="none" strike="noStrike" cap="none" dirty="0">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Review-1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cs typeface="Times New Roman" panose="02020603050405020304" pitchFamily="18" charset="0"/>
              </a:rPr>
              <a:t>DATA ANALYTICS IN TEA PLANTATION BUSINESS OPERATIONS</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622666885"/>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PREETHA GUHA</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20221CSE0271</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8CSE10</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CONTENT </a:t>
            </a:r>
            <a:endParaRPr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704516" y="902370"/>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Wingdings" panose="05000000000000000000" pitchFamily="2" charset="2"/>
              <a:buChar char="Ø"/>
            </a:pP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About Company or Organization</a:t>
            </a:r>
          </a:p>
          <a:p>
            <a:pPr marL="495300" indent="-342900" algn="just">
              <a:lnSpc>
                <a:spcPct val="200000"/>
              </a:lnSpc>
              <a:spcBef>
                <a:spcPts val="0"/>
              </a:spcBef>
              <a:buFont typeface="Wingdings" panose="05000000000000000000" pitchFamily="2" charset="2"/>
              <a:buChar char="Ø"/>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Working domain or the technology</a:t>
            </a:r>
            <a:endParaRPr lang="en-US" sz="2100" dirty="0">
              <a:solidFill>
                <a:schemeClr val="tx1">
                  <a:lumMod val="95000"/>
                  <a:lumOff val="5000"/>
                </a:schemeClr>
              </a:solidFill>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About my team and reporting Manager</a:t>
            </a:r>
            <a:endParaRPr lang="en-US" sz="2100" dirty="0">
              <a:solidFill>
                <a:schemeClr val="tx1">
                  <a:lumMod val="95000"/>
                  <a:lumOff val="5000"/>
                </a:schemeClr>
              </a:solidFill>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Challenges Faced in Internship</a:t>
            </a:r>
            <a:endParaRPr lang="en-US" sz="2100" dirty="0">
              <a:solidFill>
                <a:schemeClr val="tx1">
                  <a:lumMod val="95000"/>
                  <a:lumOff val="5000"/>
                </a:schemeClr>
              </a:solidFill>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Ø"/>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200000"/>
              </a:lnSpc>
              <a:spcBef>
                <a:spcPts val="0"/>
              </a:spcBef>
              <a:buFont typeface="Wingdings" panose="05000000000000000000" pitchFamily="2" charset="2"/>
              <a:buChar char="Ø"/>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Internship Roadmap</a:t>
            </a:r>
          </a:p>
          <a:p>
            <a:pPr marL="495300" indent="-342900" algn="just">
              <a:lnSpc>
                <a:spcPct val="200000"/>
              </a:lnSpc>
              <a:spcBef>
                <a:spcPts val="0"/>
              </a:spcBef>
              <a:buFont typeface="Wingdings" panose="05000000000000000000" pitchFamily="2" charset="2"/>
              <a:buChar char="Ø"/>
            </a:pPr>
            <a:r>
              <a:rPr lang="en-IN" sz="2100" b="1" dirty="0">
                <a:solidFill>
                  <a:schemeClr val="tx1">
                    <a:lumMod val="95000"/>
                    <a:lumOff val="5000"/>
                  </a:schemeClr>
                </a:solidFill>
                <a:latin typeface="Times New Roman" panose="02020603050405020304" pitchFamily="18" charset="0"/>
                <a:cs typeface="Times New Roman" panose="02020603050405020304" pitchFamily="18" charset="0"/>
              </a:rPr>
              <a:t>Github Link</a:t>
            </a:r>
            <a:endParaRPr lang="en-US" sz="2100" dirty="0">
              <a:solidFill>
                <a:schemeClr val="tx1">
                  <a:lumMod val="95000"/>
                  <a:lumOff val="5000"/>
                </a:schemeClr>
              </a:solidFill>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16993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548" y="249429"/>
            <a:ext cx="11370906" cy="1025135"/>
          </a:xfrm>
        </p:spPr>
        <p:txBody>
          <a:bodyPr>
            <a:normAutofit/>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a:t>
            </a:r>
            <a:r>
              <a:rPr lang="en-US" sz="3200" b="1" dirty="0" err="1">
                <a:solidFill>
                  <a:schemeClr val="accent1">
                    <a:lumMod val="75000"/>
                  </a:schemeClr>
                </a:solidFill>
                <a:latin typeface="Cambria" panose="02040503050406030204" pitchFamily="18" charset="0"/>
                <a:ea typeface="Cambria" panose="02040503050406030204" pitchFamily="18" charset="0"/>
              </a:rPr>
              <a:t>Bhardeswar</a:t>
            </a:r>
            <a:r>
              <a:rPr lang="en-US" sz="3200" b="1" dirty="0">
                <a:solidFill>
                  <a:schemeClr val="accent1">
                    <a:lumMod val="75000"/>
                  </a:schemeClr>
                </a:solidFill>
                <a:latin typeface="Cambria" panose="02040503050406030204" pitchFamily="18" charset="0"/>
                <a:ea typeface="Cambria" panose="02040503050406030204" pitchFamily="18" charset="0"/>
              </a:rPr>
              <a:t> Tea Plantation Company Private Limited</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410546" y="1274564"/>
            <a:ext cx="11140751" cy="4538407"/>
          </a:xfrm>
        </p:spPr>
        <p:txBody>
          <a:bodyPr>
            <a:noAutofit/>
          </a:bodyPr>
          <a:lstStyle/>
          <a:p>
            <a:pPr algn="just"/>
            <a:r>
              <a:rPr lang="en-US" sz="2100" dirty="0" err="1">
                <a:latin typeface="Cambria" panose="02040503050406030204" pitchFamily="18" charset="0"/>
                <a:ea typeface="Cambria" panose="02040503050406030204" pitchFamily="18" charset="0"/>
              </a:rPr>
              <a:t>Bhardeswar</a:t>
            </a:r>
            <a:r>
              <a:rPr lang="en-US" sz="2100" dirty="0">
                <a:latin typeface="Cambria" panose="02040503050406030204" pitchFamily="18" charset="0"/>
                <a:ea typeface="Cambria" panose="02040503050406030204" pitchFamily="18" charset="0"/>
              </a:rPr>
              <a:t> Tea Plantation Company Private Limited was registered at Registrar of Companies Kolkata on 15 November, 1990 and is </a:t>
            </a:r>
            <a:r>
              <a:rPr lang="en-US" sz="2100" dirty="0" err="1">
                <a:latin typeface="Cambria" panose="02040503050406030204" pitchFamily="18" charset="0"/>
                <a:ea typeface="Cambria" panose="02040503050406030204" pitchFamily="18" charset="0"/>
              </a:rPr>
              <a:t>categorised</a:t>
            </a:r>
            <a:r>
              <a:rPr lang="en-US" sz="2100" dirty="0">
                <a:latin typeface="Cambria" panose="02040503050406030204" pitchFamily="18" charset="0"/>
                <a:ea typeface="Cambria" panose="02040503050406030204" pitchFamily="18" charset="0"/>
              </a:rPr>
              <a:t> as Company limited by Shares and an Non-govt company. The firm provides tea plantation with cultivation, processing and inventory management of the tea. Having more than 30 years of operating experience, the company abides by well-defined accounting, operational and compliance practices to optimize its business behaviors.</a:t>
            </a:r>
          </a:p>
          <a:p>
            <a:pPr marL="0" indent="0" algn="just">
              <a:buNone/>
            </a:pPr>
            <a:endParaRPr lang="en-US" sz="2100" dirty="0">
              <a:latin typeface="Cambria" panose="02040503050406030204" pitchFamily="18" charset="0"/>
              <a:ea typeface="Cambria" panose="02040503050406030204" pitchFamily="18" charset="0"/>
            </a:endParaRPr>
          </a:p>
          <a:p>
            <a:pPr algn="just"/>
            <a:r>
              <a:rPr lang="en-US" sz="2100" dirty="0">
                <a:latin typeface="Cambria" panose="02040503050406030204" pitchFamily="18" charset="0"/>
                <a:ea typeface="Cambria" panose="02040503050406030204" pitchFamily="18" charset="0"/>
              </a:rPr>
              <a:t>The company is based in Jalpaiguri, West Bengal and is active as a working </a:t>
            </a:r>
            <a:r>
              <a:rPr lang="en-US" sz="2100" dirty="0" err="1">
                <a:latin typeface="Cambria" panose="02040503050406030204" pitchFamily="18" charset="0"/>
                <a:ea typeface="Cambria" panose="02040503050406030204" pitchFamily="18" charset="0"/>
              </a:rPr>
              <a:t>organisation</a:t>
            </a:r>
            <a:r>
              <a:rPr lang="en-US" sz="2100" dirty="0">
                <a:latin typeface="Cambria" panose="02040503050406030204" pitchFamily="18" charset="0"/>
                <a:ea typeface="Cambria" panose="02040503050406030204" pitchFamily="18" charset="0"/>
              </a:rPr>
              <a:t> in the agriculture &amp; plantation industry. It keeps extensive information on production, inventory, cost and sales that generate large quantity of operational and financial data. This data forms a solid basis for the application of data analytics methods to boost reporting, business insight and operational decision making.</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72518-C653-4668-CCC6-557192BA47AB}"/>
              </a:ext>
            </a:extLst>
          </p:cNvPr>
          <p:cNvSpPr>
            <a:spLocks noGrp="1"/>
          </p:cNvSpPr>
          <p:nvPr>
            <p:ph type="title"/>
          </p:nvPr>
        </p:nvSpPr>
        <p:spPr>
          <a:xfrm>
            <a:off x="636813" y="240652"/>
            <a:ext cx="11151637" cy="1009651"/>
          </a:xfrm>
        </p:spPr>
        <p:txBody>
          <a:bodyPr>
            <a:normAutofit/>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About </a:t>
            </a:r>
            <a:r>
              <a:rPr lang="en-US" sz="3200" b="1" dirty="0" err="1">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Bhardeswar</a:t>
            </a:r>
            <a:r>
              <a:rPr lang="en-US" sz="3200" b="1"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 Tea Plantation Company Private Limited</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52DBF0-E660-3C29-5151-1F28149A0DE6}"/>
              </a:ext>
            </a:extLst>
          </p:cNvPr>
          <p:cNvSpPr>
            <a:spLocks noGrp="1"/>
          </p:cNvSpPr>
          <p:nvPr>
            <p:ph idx="1"/>
          </p:nvPr>
        </p:nvSpPr>
        <p:spPr>
          <a:xfrm>
            <a:off x="636813" y="1250303"/>
            <a:ext cx="10716987" cy="4767942"/>
          </a:xfrm>
        </p:spPr>
        <p:txBody>
          <a:bodyPr>
            <a:normAutofit/>
          </a:bodyPr>
          <a:lstStyle/>
          <a:p>
            <a:pPr algn="just"/>
            <a:r>
              <a:rPr lang="en-US" sz="2100" dirty="0">
                <a:latin typeface="Cambria" panose="02040503050406030204" pitchFamily="18" charset="0"/>
                <a:ea typeface="Cambria" panose="02040503050406030204" pitchFamily="18" charset="0"/>
              </a:rPr>
              <a:t>The company’s operations involve multiple functional areas such as plantation field activities, labor coordination, inventory control, accounting, and sales-related processes. These activities require regular monitoring and documentation to ensure smooth day-to-day operations and financial accuracy. The organization follows systematic record-keeping practices to support internal reviews, audits, and statutory compliance.</a:t>
            </a:r>
          </a:p>
          <a:p>
            <a:pPr marL="0" indent="0" algn="just">
              <a:buNone/>
            </a:pPr>
            <a:endParaRPr lang="en-US" sz="2200" dirty="0">
              <a:latin typeface="Cambria" panose="02040503050406030204" pitchFamily="18" charset="0"/>
              <a:ea typeface="Cambria" panose="02040503050406030204" pitchFamily="18" charset="0"/>
            </a:endParaRPr>
          </a:p>
          <a:p>
            <a:pPr algn="just"/>
            <a:r>
              <a:rPr lang="en-US" sz="2100" dirty="0">
                <a:latin typeface="Cambria" panose="02040503050406030204" pitchFamily="18" charset="0"/>
                <a:ea typeface="Cambria" panose="02040503050406030204" pitchFamily="18" charset="0"/>
              </a:rPr>
              <a:t>As a tea plantation business, the company operates in a seasonal production environment, where output, expenses, and sales vary across different periods of the year. This results in fluctuating operational and financial data, making structured data analysis and reporting important for understanding trends, managing costs, and improving operational efficiency. The availability of historical data provides opportunities to apply data analytics for better business insights and decision support.</a:t>
            </a:r>
          </a:p>
          <a:p>
            <a:pPr algn="just"/>
            <a:endParaRPr lang="en-IN" dirty="0"/>
          </a:p>
        </p:txBody>
      </p:sp>
      <p:sp>
        <p:nvSpPr>
          <p:cNvPr id="5" name="Slide Number Placeholder 4">
            <a:extLst>
              <a:ext uri="{FF2B5EF4-FFF2-40B4-BE49-F238E27FC236}">
                <a16:creationId xmlns:a16="http://schemas.microsoft.com/office/drawing/2014/main" id="{31016F5D-1D03-3AE3-997E-F052B07A844F}"/>
              </a:ext>
            </a:extLst>
          </p:cNvPr>
          <p:cNvSpPr>
            <a:spLocks noGrp="1"/>
          </p:cNvSpPr>
          <p:nvPr>
            <p:ph type="sldNum" sz="quarter" idx="12"/>
          </p:nvPr>
        </p:nvSpPr>
        <p:spPr/>
        <p:txBody>
          <a:bodyPr/>
          <a:lstStyle/>
          <a:p>
            <a:fld id="{F32F6845-8F47-4AB8-B9CE-96D88E741707}" type="slidenum">
              <a:rPr lang="en-IN" smtClean="0"/>
              <a:pPr/>
              <a:t>4</a:t>
            </a:fld>
            <a:endParaRPr lang="en-IN" dirty="0"/>
          </a:p>
        </p:txBody>
      </p:sp>
    </p:spTree>
    <p:extLst>
      <p:ext uri="{BB962C8B-B14F-4D97-AF65-F5344CB8AC3E}">
        <p14:creationId xmlns:p14="http://schemas.microsoft.com/office/powerpoint/2010/main" val="1930894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218" y="201839"/>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394218" y="1110343"/>
            <a:ext cx="11403564" cy="5327779"/>
          </a:xfrm>
        </p:spPr>
        <p:txBody>
          <a:bodyPr>
            <a:normAutofit/>
          </a:bodyPr>
          <a:lstStyle/>
          <a:p>
            <a:pPr marL="0" indent="0" algn="just">
              <a:buNone/>
            </a:pPr>
            <a:r>
              <a:rPr lang="en-IN" sz="2000" b="1" dirty="0">
                <a:latin typeface="Cambria" panose="02040503050406030204" pitchFamily="18" charset="0"/>
                <a:ea typeface="Cambria" panose="02040503050406030204" pitchFamily="18" charset="0"/>
              </a:rPr>
              <a:t>ASSIGNED DOMAIN</a:t>
            </a:r>
          </a:p>
          <a:p>
            <a:pPr marL="0" indent="0" algn="just">
              <a:buNone/>
            </a:pPr>
            <a:r>
              <a:rPr lang="en-US" sz="2000" dirty="0">
                <a:latin typeface="Cambria" panose="02040503050406030204" pitchFamily="18" charset="0"/>
                <a:ea typeface="Cambria" panose="02040503050406030204" pitchFamily="18" charset="0"/>
              </a:rPr>
              <a:t>Data Analysis and Reporting in Tea Plantation Business</a:t>
            </a:r>
          </a:p>
          <a:p>
            <a:pPr algn="just"/>
            <a:r>
              <a:rPr lang="en-US" sz="2000" b="1" dirty="0">
                <a:latin typeface="Cambria" panose="02040503050406030204" pitchFamily="18" charset="0"/>
                <a:ea typeface="Cambria" panose="02040503050406030204" pitchFamily="18" charset="0"/>
              </a:rPr>
              <a:t>ROLE OF TECHNOLOGY IN THIS DOMAIN</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Tally:</a:t>
            </a:r>
            <a:r>
              <a:rPr lang="en-US" sz="2000" dirty="0">
                <a:latin typeface="Cambria" panose="02040503050406030204" pitchFamily="18" charset="0"/>
                <a:ea typeface="Cambria" panose="02040503050406030204" pitchFamily="18" charset="0"/>
              </a:rPr>
              <a:t> Primary source of accounting, sales, and inventory data used for business operations</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Microsoft Excel:</a:t>
            </a:r>
            <a:r>
              <a:rPr lang="en-US" sz="2000" dirty="0">
                <a:latin typeface="Cambria" panose="02040503050406030204" pitchFamily="18" charset="0"/>
                <a:ea typeface="Cambria" panose="02040503050406030204" pitchFamily="18" charset="0"/>
              </a:rPr>
              <a:t> Data cleaning, organization, management, and preparation of structured reports</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Power BI:</a:t>
            </a:r>
            <a:r>
              <a:rPr lang="en-US" sz="2000" dirty="0">
                <a:latin typeface="Cambria" panose="02040503050406030204" pitchFamily="18" charset="0"/>
                <a:ea typeface="Cambria" panose="02040503050406030204" pitchFamily="18" charset="0"/>
              </a:rPr>
              <a:t> Creation of visual dashboards and charts to analyze trends and summarize business data</a:t>
            </a:r>
          </a:p>
          <a:p>
            <a:pPr algn="just">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Python:</a:t>
            </a:r>
            <a:r>
              <a:rPr lang="en-US" sz="2000" dirty="0">
                <a:latin typeface="Cambria" panose="02040503050406030204" pitchFamily="18" charset="0"/>
                <a:ea typeface="Cambria" panose="02040503050406030204" pitchFamily="18" charset="0"/>
              </a:rPr>
              <a:t> Supporting basic data validation, cleaning, and simple data processing tasks</a:t>
            </a:r>
          </a:p>
          <a:p>
            <a:pPr marL="0" indent="0" algn="just">
              <a:buNone/>
            </a:pPr>
            <a:endParaRPr lang="en-US" sz="2000" dirty="0">
              <a:latin typeface="Cambria" panose="02040503050406030204" pitchFamily="18" charset="0"/>
              <a:ea typeface="Cambria" panose="02040503050406030204" pitchFamily="18" charset="0"/>
            </a:endParaRPr>
          </a:p>
          <a:p>
            <a:pPr algn="just"/>
            <a:r>
              <a:rPr lang="en-US" sz="2000" b="1" dirty="0">
                <a:latin typeface="Cambria" panose="02040503050406030204" pitchFamily="18" charset="0"/>
                <a:ea typeface="Cambria" panose="02040503050406030204" pitchFamily="18" charset="0"/>
              </a:rPr>
              <a:t>FEATURES &amp; IMPORTANCE OF THE ASSIGNED DOMAIN</a:t>
            </a: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Works with real tea plantation operational and financial data for analysis and reporting</a:t>
            </a: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Helps structure data to identify trends and support data-driven business decisions</a:t>
            </a: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Improves reporting efficiency and provides hands-on exposure to analytics tools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marL="0" indent="0" algn="just">
              <a:buNone/>
            </a:pPr>
            <a:endParaRPr lang="en-IN" sz="2300" dirty="0">
              <a:latin typeface="Cambria" panose="02040503050406030204" pitchFamily="18" charset="0"/>
              <a:ea typeface="Cambria" panose="020405030504060302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dirty="0"/>
          </a:p>
        </p:txBody>
      </p:sp>
    </p:spTree>
    <p:extLst>
      <p:ext uri="{BB962C8B-B14F-4D97-AF65-F5344CB8AC3E}">
        <p14:creationId xmlns:p14="http://schemas.microsoft.com/office/powerpoint/2010/main" val="658682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951" y="409156"/>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my team and reporting Manager</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
        <p:nvSpPr>
          <p:cNvPr id="6" name="Rectangle 3">
            <a:extLst>
              <a:ext uri="{FF2B5EF4-FFF2-40B4-BE49-F238E27FC236}">
                <a16:creationId xmlns:a16="http://schemas.microsoft.com/office/drawing/2014/main" id="{C3EE3A7E-ED00-45B3-E87C-6F22B411607C}"/>
              </a:ext>
            </a:extLst>
          </p:cNvPr>
          <p:cNvSpPr>
            <a:spLocks noGrp="1" noChangeArrowheads="1"/>
          </p:cNvSpPr>
          <p:nvPr>
            <p:ph idx="1"/>
          </p:nvPr>
        </p:nvSpPr>
        <p:spPr bwMode="auto">
          <a:xfrm>
            <a:off x="548951" y="1228397"/>
            <a:ext cx="1112456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internship training is carried out under the guidance of the accounts and operations team of the tea plantation company.</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During this phase, the team introduces the business structure, accounting workflow, and operational processes followed in the organization.</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 senior staff member supervises the training activities and provides instructions and learning guidance.</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reporting structure involves regular interaction, monitoring, and clarification sessions with the reporting manager.</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team explains standard procedures followed for data entry, record maintenance, and reporting activities.</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Training sessions focus on understanding data sources, documentation practices, and accuracy requirements.</a:t>
            </a:r>
          </a:p>
          <a:p>
            <a:pPr algn="just" eaLnBrk="0" fontAlgn="base" hangingPunct="0">
              <a:lnSpc>
                <a:spcPct val="100000"/>
              </a:lnSpc>
              <a:spcBef>
                <a:spcPct val="0"/>
              </a:spcBef>
              <a:spcAft>
                <a:spcPct val="0"/>
              </a:spcAft>
              <a:buFont typeface="Wingdings" panose="05000000000000000000" pitchFamily="2" charset="2"/>
              <a:buChar char="Ø"/>
            </a:pP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The working environment supports learning, supervision, and gradual exposure to team-based activities during the training period.</a:t>
            </a:r>
          </a:p>
        </p:txBody>
      </p:sp>
    </p:spTree>
    <p:extLst>
      <p:ext uri="{BB962C8B-B14F-4D97-AF65-F5344CB8AC3E}">
        <p14:creationId xmlns:p14="http://schemas.microsoft.com/office/powerpoint/2010/main" val="2510696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254657"/>
            <a:ext cx="11058331" cy="4740572"/>
          </a:xfrm>
        </p:spPr>
        <p:txBody>
          <a:bodyPr>
            <a:noAutofit/>
          </a:bodyPr>
          <a:lstStyle/>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Finding a suitable internship opportunity related to the academic domain and industry exposure</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Understanding the tea plantation business environment and operational workflow</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Learning to work with real accounting and operational data using tools like Tally and Power BI</a:t>
            </a:r>
          </a:p>
          <a:p>
            <a:pPr marL="0" indent="0" algn="just">
              <a:buNone/>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Adjusting to a professional work environment and understanding office procedures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Coordinating with team members and adapting to new roles and responsibilities</a:t>
            </a:r>
          </a:p>
          <a:p>
            <a:pPr algn="just">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000" dirty="0">
                <a:latin typeface="Cambria" panose="02040503050406030204" pitchFamily="18" charset="0"/>
                <a:ea typeface="Cambria" panose="02040503050406030204" pitchFamily="18" charset="0"/>
              </a:rPr>
              <a:t>Ensuring data accuracy and following proper documentation and reporting standards</a:t>
            </a:r>
          </a:p>
          <a:p>
            <a:pPr marL="0" indent="0">
              <a:buNone/>
            </a:pPr>
            <a:endParaRPr lang="en-IN" sz="2300" dirty="0">
              <a:latin typeface="Cambria" panose="02040503050406030204" pitchFamily="18" charset="0"/>
              <a:ea typeface="Cambria" panose="020405030504060302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0568"/>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
        <p:nvSpPr>
          <p:cNvPr id="6" name="Rectangle 2">
            <a:extLst>
              <a:ext uri="{FF2B5EF4-FFF2-40B4-BE49-F238E27FC236}">
                <a16:creationId xmlns:a16="http://schemas.microsoft.com/office/drawing/2014/main" id="{E719DE4A-CADF-A6CE-46F0-8DE50BE054AC}"/>
              </a:ext>
            </a:extLst>
          </p:cNvPr>
          <p:cNvSpPr>
            <a:spLocks noGrp="1" noChangeArrowheads="1"/>
          </p:cNvSpPr>
          <p:nvPr>
            <p:ph idx="1"/>
          </p:nvPr>
        </p:nvSpPr>
        <p:spPr bwMode="auto">
          <a:xfrm>
            <a:off x="838200" y="955164"/>
            <a:ext cx="11076992"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understand how operational and financial data is generated and maintained in a tea plantation business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learn data extraction from accounting systems such as </a:t>
            </a: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Tally</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Prime and organize the data using </a:t>
            </a: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Excel</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perform basic data handling tasks such as sorting, filtering, and structuring datasets for analysis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support accurate record keeping and improve data consistency and reliability</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assist in preparing simple analytical reports and summaries for operational review</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gain exposure to </a:t>
            </a:r>
            <a:r>
              <a:rPr kumimoji="0" lang="en-US" altLang="en-US" sz="20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data visualization and reporting tools </a:t>
            </a: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such as Power BI</a:t>
            </a:r>
          </a:p>
          <a:p>
            <a:pPr algn="just" eaLnBrk="0" fontAlgn="base" hangingPunct="0">
              <a:lnSpc>
                <a:spcPct val="100000"/>
              </a:lnSpc>
              <a:spcBef>
                <a:spcPct val="0"/>
              </a:spcBef>
              <a:spcAft>
                <a:spcPct val="0"/>
              </a:spcAft>
              <a:buFont typeface="Wingdings" panose="05000000000000000000" pitchFamily="2" charset="2"/>
              <a:buChar char="Ø"/>
            </a:pPr>
            <a:endPar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To understand how data analytics techniques can support business monitoring and decision-making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16334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641378822"/>
              </p:ext>
            </p:extLst>
          </p:nvPr>
        </p:nvGraphicFramePr>
        <p:xfrm>
          <a:off x="838200" y="867747"/>
          <a:ext cx="10741090" cy="50198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
        <p:nvSpPr>
          <p:cNvPr id="3" name="Content Placeholder 2"/>
          <p:cNvSpPr>
            <a:spLocks noGrp="1"/>
          </p:cNvSpPr>
          <p:nvPr>
            <p:ph idx="1"/>
          </p:nvPr>
        </p:nvSpPr>
        <p:spPr>
          <a:xfrm>
            <a:off x="446308" y="1061297"/>
            <a:ext cx="10515600" cy="4351338"/>
          </a:xfrm>
        </p:spPr>
        <p:txBody>
          <a:bodyPr/>
          <a:lstStyle/>
          <a:p>
            <a:pPr marL="0" indent="0">
              <a:buNone/>
            </a:pPr>
            <a:endParaRPr lang="en-US" dirty="0"/>
          </a:p>
          <a:p>
            <a:pPr marL="0" indent="0">
              <a:buNone/>
            </a:pPr>
            <a:endParaRPr lang="en-US" dirty="0"/>
          </a:p>
          <a:p>
            <a:pPr marL="0" indent="0">
              <a:buNone/>
            </a:pPr>
            <a:r>
              <a:rPr lang="en-US" dirty="0"/>
              <a:t> https://github.com/Pre606/Data-Analysis-at-Bhardeswar-</a:t>
            </a:r>
          </a:p>
          <a:p>
            <a:pPr marL="0" indent="0">
              <a:buNone/>
            </a:pPr>
            <a:r>
              <a:rPr lang="en-US" dirty="0"/>
              <a:t> Tea-Plantation-Company-Private-Limited-</a:t>
            </a:r>
          </a:p>
        </p:txBody>
      </p:sp>
    </p:spTree>
    <p:extLst>
      <p:ext uri="{BB962C8B-B14F-4D97-AF65-F5344CB8AC3E}">
        <p14:creationId xmlns:p14="http://schemas.microsoft.com/office/powerpoint/2010/main" val="295621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11</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7217</TotalTime>
  <Words>1034</Words>
  <Application>Microsoft Office PowerPoint</Application>
  <PresentationFormat>Widescreen</PresentationFormat>
  <Paragraphs>117</Paragraphs>
  <Slides>12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Light</vt:lpstr>
      <vt:lpstr>Cambria</vt:lpstr>
      <vt:lpstr>Times New Roman</vt:lpstr>
      <vt:lpstr>Verdana</vt:lpstr>
      <vt:lpstr>Wingdings</vt:lpstr>
      <vt:lpstr>Office Theme</vt:lpstr>
      <vt:lpstr>PowerPoint Presentation</vt:lpstr>
      <vt:lpstr>CONTENT </vt:lpstr>
      <vt:lpstr>About Bhardeswar Tea Plantation Company Private Limited </vt:lpstr>
      <vt:lpstr>About Bhardeswar Tea Plantation Company Private Limited </vt:lpstr>
      <vt:lpstr>Working domain or the technology</vt:lpstr>
      <vt:lpstr>About my team and reporting Manager</vt:lpstr>
      <vt:lpstr>Challenges Faced in Internship</vt:lpstr>
      <vt:lpstr>Objectives of the work</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Preetha Guha</cp:lastModifiedBy>
  <cp:revision>720</cp:revision>
  <dcterms:created xsi:type="dcterms:W3CDTF">2022-10-14T07:18:17Z</dcterms:created>
  <dcterms:modified xsi:type="dcterms:W3CDTF">2026-01-16T15:30:37Z</dcterms:modified>
</cp:coreProperties>
</file>