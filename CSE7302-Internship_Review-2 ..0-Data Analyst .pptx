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9" r:id="rId2"/>
    <p:sldId id="260" r:id="rId3"/>
    <p:sldId id="261" r:id="rId4"/>
    <p:sldId id="270" r:id="rId5"/>
    <p:sldId id="262" r:id="rId6"/>
    <p:sldId id="263" r:id="rId7"/>
    <p:sldId id="264" r:id="rId8"/>
    <p:sldId id="265" r:id="rId9"/>
    <p:sldId id="271" r:id="rId10"/>
    <p:sldId id="272" r:id="rId11"/>
    <p:sldId id="273" r:id="rId12"/>
    <p:sldId id="274" r:id="rId13"/>
    <p:sldId id="275" r:id="rId14"/>
    <p:sldId id="266" r:id="rId15"/>
    <p:sldId id="267" r:id="rId16"/>
    <p:sldId id="268"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82" d="100"/>
          <a:sy n="82" d="100"/>
        </p:scale>
        <p:origin x="8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just">
            <a:buNone/>
          </a:pPr>
          <a:endParaRPr lang="en-US" sz="1550" dirty="0">
            <a:latin typeface="Cambria" panose="02040503050406030204" pitchFamily="18" charset="0"/>
            <a:ea typeface="Cambria" panose="02040503050406030204" pitchFamily="18" charset="0"/>
          </a:endParaRPr>
        </a:p>
        <a:p>
          <a:pPr algn="just">
            <a:buNone/>
          </a:pPr>
          <a:r>
            <a:rPr lang="en-US" sz="155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Introduction to Tally, Excel, and basic reporting procedures</a:t>
          </a:r>
          <a:r>
            <a:rPr lang="en-US" sz="1550" dirty="0"/>
            <a:t>.</a:t>
          </a:r>
          <a:endParaRPr lang="en-US" sz="155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just">
            <a:buNone/>
          </a:pPr>
          <a:endParaRPr lang="en-US" sz="11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l"/>
          <a:endParaRPr lang="en-US" sz="1600" dirty="0">
            <a:latin typeface="Cambria" panose="02040503050406030204" pitchFamily="18" charset="0"/>
            <a:ea typeface="Cambria" panose="02040503050406030204" pitchFamily="18" charset="0"/>
          </a:endParaRPr>
        </a:p>
        <a:p>
          <a:pPr algn="l"/>
          <a:r>
            <a:rPr lang="en-US" sz="16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Support for audit-related data verification and record validation</a:t>
          </a:r>
          <a:r>
            <a:rPr lang="en-US" sz="1600" dirty="0"/>
            <a:t>.</a:t>
          </a:r>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00CCFEF6-765C-4B09-853C-FC677B1B38E7}">
      <dgm:prSet phldrT="[Text]"/>
      <dgm:spPr/>
      <dgm:t>
        <a:bodyPr/>
        <a:lstStyle/>
        <a:p>
          <a:pPr algn="r">
            <a:buNone/>
          </a:pPr>
          <a:endParaRPr lang="en-US" sz="1100" dirty="0">
            <a:latin typeface="Times New Roman" panose="02020603050405020304" pitchFamily="18" charset="0"/>
            <a:cs typeface="Times New Roman" panose="02020603050405020304" pitchFamily="18" charset="0"/>
          </a:endParaRPr>
        </a:p>
      </dgm:t>
    </dgm:pt>
    <dgm:pt modelId="{16F03AE4-D368-4DAB-9ABF-19849AD14EA8}" type="parTrans" cxnId="{23F0FD06-A017-4040-9348-2CA3B3ABE990}">
      <dgm:prSet/>
      <dgm:spPr/>
      <dgm:t>
        <a:bodyPr/>
        <a:lstStyle/>
        <a:p>
          <a:endParaRPr lang="en-IN"/>
        </a:p>
      </dgm:t>
    </dgm:pt>
    <dgm:pt modelId="{57C71E3C-AF89-420C-ACB7-4C64D27ED0E2}" type="sibTrans" cxnId="{23F0FD06-A017-4040-9348-2CA3B3ABE990}">
      <dgm:prSet/>
      <dgm:spPr/>
      <dgm:t>
        <a:bodyPr/>
        <a:lstStyle/>
        <a:p>
          <a:endParaRPr lang="en-IN"/>
        </a:p>
      </dgm:t>
    </dgm:pt>
    <dgm:pt modelId="{9B71A9C5-C7C2-49B1-9D9C-6739C22E605A}">
      <dgm:prSet custT="1"/>
      <dgm:spPr/>
      <dgm:t>
        <a:bodyPr/>
        <a:lstStyle/>
        <a:p>
          <a:pPr algn="l">
            <a:buNone/>
          </a:pPr>
          <a:r>
            <a:rPr lang="en-US" sz="1550" dirty="0">
              <a:latin typeface="Cambria" panose="02040503050406030204" pitchFamily="18" charset="0"/>
              <a:ea typeface="Cambria" panose="02040503050406030204" pitchFamily="18" charset="0"/>
            </a:rPr>
            <a:t>Data extraction from Tally to Excel.</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Data entry, data organization, and management of operational and financial datasets.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Preparation of basic Excel reports and summaries.</a:t>
          </a:r>
        </a:p>
      </dgm:t>
    </dgm:pt>
    <dgm:pt modelId="{ED3787C6-47F3-42A1-807F-19C61DBB62F5}" type="parTrans" cxnId="{965B0B9F-4D59-4E2B-AA18-989284701D4F}">
      <dgm:prSet/>
      <dgm:spPr/>
      <dgm:t>
        <a:bodyPr/>
        <a:lstStyle/>
        <a:p>
          <a:endParaRPr lang="en-IN"/>
        </a:p>
      </dgm:t>
    </dgm:pt>
    <dgm:pt modelId="{9D9EA17F-2A23-45A5-80BA-887AE1C644F8}" type="sibTrans" cxnId="{965B0B9F-4D59-4E2B-AA18-989284701D4F}">
      <dgm:prSet/>
      <dgm:spPr/>
      <dgm:t>
        <a:bodyPr/>
        <a:lstStyle/>
        <a:p>
          <a:endParaRPr lang="en-IN"/>
        </a:p>
      </dgm:t>
    </dgm:pt>
    <dgm:pt modelId="{819305E8-211B-4AD7-BE9D-F47C5D7C4021}">
      <dgm:prSet custT="1"/>
      <dgm:spPr/>
      <dgm:t>
        <a:bodyPr/>
        <a:lstStyle/>
        <a:p>
          <a:pPr algn="l">
            <a:buNone/>
          </a:pPr>
          <a:endParaRPr lang="en-US" sz="1350" dirty="0"/>
        </a:p>
        <a:p>
          <a:pPr algn="l">
            <a:buNone/>
          </a:pPr>
          <a:r>
            <a:rPr lang="en-US" sz="1600" dirty="0">
              <a:latin typeface="Cambria" panose="02040503050406030204" pitchFamily="18" charset="0"/>
              <a:ea typeface="Cambria" panose="02040503050406030204" pitchFamily="18" charset="0"/>
            </a:rPr>
            <a:t>Data cleaning, transformation, and structuring of datasets.</a:t>
          </a:r>
        </a:p>
        <a:p>
          <a:pPr algn="l">
            <a:buNone/>
          </a:pP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Creation of charts, dashboards, and trend analysis using Python for business reporting</a:t>
          </a:r>
          <a:r>
            <a:rPr lang="en-US" sz="1350" dirty="0"/>
            <a:t>.</a:t>
          </a:r>
          <a:endParaRPr lang="en-IN" sz="1350" dirty="0"/>
        </a:p>
      </dgm:t>
    </dgm:pt>
    <dgm:pt modelId="{2AD953E2-4496-4334-9BCF-52F1064E76B1}" type="parTrans" cxnId="{0E863C2B-EC6D-4FD3-9EB6-003BF4D562A0}">
      <dgm:prSet/>
      <dgm:spPr/>
      <dgm:t>
        <a:bodyPr/>
        <a:lstStyle/>
        <a:p>
          <a:endParaRPr lang="en-IN"/>
        </a:p>
      </dgm:t>
    </dgm:pt>
    <dgm:pt modelId="{CF01FC87-235C-49FA-AD29-7F0292834058}" type="sibTrans" cxnId="{0E863C2B-EC6D-4FD3-9EB6-003BF4D562A0}">
      <dgm:prSet/>
      <dgm:spPr/>
      <dgm:t>
        <a:bodyPr/>
        <a:lstStyle/>
        <a:p>
          <a:endParaRPr lang="en-IN"/>
        </a:p>
      </dgm:t>
    </dgm:pt>
    <dgm:pt modelId="{47407E34-DB95-4BAC-8254-11B3753A77F8}">
      <dgm:prSet custT="1"/>
      <dgm:spPr/>
      <dgm:t>
        <a:bodyPr/>
        <a:lstStyle/>
        <a:p>
          <a:pPr algn="r">
            <a:buNone/>
          </a:pPr>
          <a:endParaRPr lang="en-US" sz="1500" dirty="0"/>
        </a:p>
        <a:p>
          <a:pPr algn="l">
            <a:buNone/>
          </a:pPr>
          <a:r>
            <a:rPr lang="en-US" sz="1550" dirty="0"/>
            <a:t>Presentation of overall learning and core data analytics work performed.</a:t>
          </a:r>
        </a:p>
        <a:p>
          <a:pPr algn="l">
            <a:buNone/>
          </a:pPr>
          <a:br>
            <a:rPr lang="en-US" sz="1550" dirty="0"/>
          </a:br>
          <a:r>
            <a:rPr lang="en-US" sz="1550" dirty="0"/>
            <a:t>Explanation of data handling, reporting, visualization techniques, and key insights gained during the internship.</a:t>
          </a:r>
          <a:endParaRPr lang="en-IN" sz="1550" dirty="0"/>
        </a:p>
      </dgm:t>
    </dgm:pt>
    <dgm:pt modelId="{571316E6-5BA8-445E-87DD-3B0CFBBC5585}" type="parTrans" cxnId="{2E9240A7-2A9A-466B-B891-5B4229611AEC}">
      <dgm:prSet/>
      <dgm:spPr/>
      <dgm:t>
        <a:bodyPr/>
        <a:lstStyle/>
        <a:p>
          <a:endParaRPr lang="en-IN"/>
        </a:p>
      </dgm:t>
    </dgm:pt>
    <dgm:pt modelId="{7DCDDE4C-CE85-49FA-825A-83BB8BC64BFA}" type="sibTrans" cxnId="{2E9240A7-2A9A-466B-B891-5B4229611AEC}">
      <dgm:prSet/>
      <dgm:spPr/>
      <dgm:t>
        <a:bodyPr/>
        <a:lstStyle/>
        <a:p>
          <a:endParaRPr lang="en-IN"/>
        </a:p>
      </dgm:t>
    </dgm:pt>
    <dgm:pt modelId="{AE361D03-80A7-4F21-8C8C-BAA903F3816B}">
      <dgm:prSet/>
      <dgm:spPr/>
      <dgm:t>
        <a:bodyPr/>
        <a:lstStyle/>
        <a:p>
          <a:pPr algn="r">
            <a:buNone/>
          </a:pPr>
          <a:endParaRPr lang="en-US" sz="1500" dirty="0"/>
        </a:p>
      </dgm:t>
    </dgm:pt>
    <dgm:pt modelId="{12627B51-F088-4AF5-AB62-F3AD37B513F4}" type="parTrans" cxnId="{0668F288-9EBF-40BA-8929-FC31D31E183D}">
      <dgm:prSet/>
      <dgm:spPr/>
      <dgm:t>
        <a:bodyPr/>
        <a:lstStyle/>
        <a:p>
          <a:endParaRPr lang="en-IN"/>
        </a:p>
      </dgm:t>
    </dgm:pt>
    <dgm:pt modelId="{42524755-3068-408F-BEFA-E606866580DC}" type="sibTrans" cxnId="{0668F288-9EBF-40BA-8929-FC31D31E183D}">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custScaleY="104514" custLinFactNeighborX="1772" custLinFactNeighborY="1487"/>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custScaleY="111711" custLinFactNeighborX="1180" custLinFactNeighborY="351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custScaleY="116593" custLinFactNeighborX="2810" custLinFactNeighborY="9061"/>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custScaleY="118339" custLinFactNeighborX="1179" custLinFactNeighborY="11506"/>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23F0FD06-A017-4040-9348-2CA3B3ABE990}" srcId="{7B3055AA-BF7C-46D0-9A9E-60087B9F57B4}" destId="{00CCFEF6-765C-4B09-853C-FC677B1B38E7}" srcOrd="2" destOrd="0" parTransId="{16F03AE4-D368-4DAB-9ABF-19849AD14EA8}" sibTransId="{57C71E3C-AF89-420C-ACB7-4C64D27ED0E2}"/>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5D02BC27-79CE-4AE2-9992-A09C6145FD24}" type="presOf" srcId="{9B71A9C5-C7C2-49B1-9D9C-6739C22E605A}" destId="{6BCCFBA6-7A43-4631-AD7F-AFB10E1E6CD7}" srcOrd="1" destOrd="1" presId="urn:microsoft.com/office/officeart/2011/layout/InterconnectedBlockProcess"/>
    <dgm:cxn modelId="{0E863C2B-EC6D-4FD3-9EB6-003BF4D562A0}" srcId="{5E92505A-51E0-4F78-B3C5-704ACF8710DE}" destId="{819305E8-211B-4AD7-BE9D-F47C5D7C4021}" srcOrd="0" destOrd="0" parTransId="{2AD953E2-4496-4334-9BCF-52F1064E76B1}" sibTransId="{CF01FC87-235C-49FA-AD29-7F0292834058}"/>
    <dgm:cxn modelId="{BD4D063F-4481-4272-86B1-D2EA110CC162}" type="presOf" srcId="{73DB572E-062D-41AD-8033-D361B8E583DB}" destId="{0D08ED52-6744-4369-B780-916B09984775}" srcOrd="1" destOrd="0" presId="urn:microsoft.com/office/officeart/2011/layout/InterconnectedBlockProcess"/>
    <dgm:cxn modelId="{0CAAC844-EBCD-45CF-B88E-6D190F0BCDD2}" type="presOf" srcId="{AE361D03-80A7-4F21-8C8C-BAA903F3816B}" destId="{928B615F-0F8D-4140-A638-0FBB8F5BF1E9}" srcOrd="1" destOrd="1" presId="urn:microsoft.com/office/officeart/2011/layout/InterconnectedBlockProcess"/>
    <dgm:cxn modelId="{EE72074D-A712-4380-98C2-ED81FF856FC6}" type="presOf" srcId="{AE361D03-80A7-4F21-8C8C-BAA903F3816B}" destId="{8CAE5A4D-0C7B-48A6-917B-0B8433D0574B}" srcOrd="0" destOrd="1"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0668F288-9EBF-40BA-8929-FC31D31E183D}" srcId="{65C051F6-A849-4495-A964-CD4C650B9C06}" destId="{AE361D03-80A7-4F21-8C8C-BAA903F3816B}" srcOrd="1" destOrd="0" parTransId="{12627B51-F088-4AF5-AB62-F3AD37B513F4}" sibTransId="{42524755-3068-408F-BEFA-E606866580DC}"/>
    <dgm:cxn modelId="{5C3C918A-4C4A-4DEB-924A-CC330C09FB27}" type="presOf" srcId="{5E92505A-51E0-4F78-B3C5-704ACF8710DE}" destId="{2AAD338D-3122-4454-9A67-16BE024D44E3}" srcOrd="0" destOrd="0" presId="urn:microsoft.com/office/officeart/2011/layout/InterconnectedBlockProcess"/>
    <dgm:cxn modelId="{474C5B93-3F0D-4094-AC86-D5FD04789F1D}" type="presOf" srcId="{00CCFEF6-765C-4B09-853C-FC677B1B38E7}" destId="{06F8D57B-EDF4-4CF4-8700-DC2CA3E3028E}" srcOrd="0" destOrd="2"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965B0B9F-4D59-4E2B-AA18-989284701D4F}" srcId="{7B3055AA-BF7C-46D0-9A9E-60087B9F57B4}" destId="{9B71A9C5-C7C2-49B1-9D9C-6739C22E605A}" srcOrd="1" destOrd="0" parTransId="{ED3787C6-47F3-42A1-807F-19C61DBB62F5}" sibTransId="{9D9EA17F-2A23-45A5-80BA-887AE1C644F8}"/>
    <dgm:cxn modelId="{25C83D9F-B12A-43EF-8599-6589093E1A69}" type="presOf" srcId="{9FED87C4-3F3B-4A18-9185-9F80CFEDEA2E}" destId="{06F8D57B-EDF4-4CF4-8700-DC2CA3E3028E}" srcOrd="0" destOrd="0" presId="urn:microsoft.com/office/officeart/2011/layout/InterconnectedBlockProcess"/>
    <dgm:cxn modelId="{2E9240A7-2A9A-466B-B891-5B4229611AEC}" srcId="{65C051F6-A849-4495-A964-CD4C650B9C06}" destId="{47407E34-DB95-4BAC-8254-11B3753A77F8}" srcOrd="0" destOrd="0" parTransId="{571316E6-5BA8-445E-87DD-3B0CFBBC5585}" sibTransId="{7DCDDE4C-CE85-49FA-825A-83BB8BC64BFA}"/>
    <dgm:cxn modelId="{DA2360A8-18A8-493D-8936-6321A175407B}" type="presOf" srcId="{47407E34-DB95-4BAC-8254-11B3753A77F8}" destId="{8CAE5A4D-0C7B-48A6-917B-0B8433D0574B}" srcOrd="0" destOrd="0" presId="urn:microsoft.com/office/officeart/2011/layout/InterconnectedBlockProcess"/>
    <dgm:cxn modelId="{8092EAAA-8C45-4401-9F81-184ACDD17A52}" type="presOf" srcId="{47407E34-DB95-4BAC-8254-11B3753A77F8}" destId="{928B615F-0F8D-4140-A638-0FBB8F5BF1E9}" srcOrd="1" destOrd="0" presId="urn:microsoft.com/office/officeart/2011/layout/InterconnectedBlockProcess"/>
    <dgm:cxn modelId="{5A8EC8AD-DA55-4C77-838E-518180C75D14}" type="presOf" srcId="{819305E8-211B-4AD7-BE9D-F47C5D7C4021}" destId="{98225A61-A0EC-450A-BED8-EF2E47E8FD18}"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7D3CEFBC-D3A0-451E-967E-D19E767EA30E}" type="presOf" srcId="{819305E8-211B-4AD7-BE9D-F47C5D7C4021}" destId="{FC0F1314-3294-4A8C-8DCE-EB53E236164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868628D5-5A05-45C5-B0AA-9B2AE0EDFFCE}" type="presOf" srcId="{00CCFEF6-765C-4B09-853C-FC677B1B38E7}" destId="{6BCCFBA6-7A43-4631-AD7F-AFB10E1E6CD7}" srcOrd="1"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61E99FFB-4E8B-4DE2-B0DD-FEEABCF9E3BD}" type="presOf" srcId="{9B71A9C5-C7C2-49B1-9D9C-6739C22E605A}" destId="{06F8D57B-EDF4-4CF4-8700-DC2CA3E3028E}" srcOrd="0"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740438" y="1003973"/>
          <a:ext cx="1581245" cy="4015895"/>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r" defTabSz="666750">
            <a:lnSpc>
              <a:spcPct val="90000"/>
            </a:lnSpc>
            <a:spcBef>
              <a:spcPct val="0"/>
            </a:spcBef>
            <a:spcAft>
              <a:spcPct val="35000"/>
            </a:spcAft>
            <a:buNone/>
          </a:pPr>
          <a:endParaRPr lang="en-US" sz="1500" kern="1200" dirty="0"/>
        </a:p>
        <a:p>
          <a:pPr marL="0" lvl="0" indent="0" algn="l" defTabSz="666750">
            <a:lnSpc>
              <a:spcPct val="90000"/>
            </a:lnSpc>
            <a:spcBef>
              <a:spcPct val="0"/>
            </a:spcBef>
            <a:spcAft>
              <a:spcPct val="35000"/>
            </a:spcAft>
            <a:buNone/>
          </a:pPr>
          <a:r>
            <a:rPr lang="en-US" sz="1550" kern="1200" dirty="0"/>
            <a:t>Presentation of overall learning and core data analytics work performed.</a:t>
          </a:r>
        </a:p>
        <a:p>
          <a:pPr marL="0" lvl="0" indent="0" algn="l" defTabSz="666750">
            <a:lnSpc>
              <a:spcPct val="90000"/>
            </a:lnSpc>
            <a:spcBef>
              <a:spcPct val="0"/>
            </a:spcBef>
            <a:spcAft>
              <a:spcPct val="35000"/>
            </a:spcAft>
            <a:buNone/>
          </a:pPr>
          <a:br>
            <a:rPr lang="en-US" sz="1550" kern="1200" dirty="0"/>
          </a:br>
          <a:r>
            <a:rPr lang="en-US" sz="1550" kern="1200" dirty="0"/>
            <a:t>Explanation of data handling, reporting, visualization techniques, and key insights gained during the internship.</a:t>
          </a:r>
          <a:endParaRPr lang="en-IN" sz="1550" kern="1200" dirty="0"/>
        </a:p>
        <a:p>
          <a:pPr marL="0" lvl="0" indent="0" algn="r" defTabSz="666750">
            <a:lnSpc>
              <a:spcPct val="90000"/>
            </a:lnSpc>
            <a:spcBef>
              <a:spcPct val="0"/>
            </a:spcBef>
            <a:spcAft>
              <a:spcPct val="35000"/>
            </a:spcAft>
            <a:buNone/>
          </a:pPr>
          <a:endParaRPr lang="en-US" sz="1500" kern="1200" dirty="0"/>
        </a:p>
      </dsp:txBody>
      <dsp:txXfrm>
        <a:off x="7941155" y="1003973"/>
        <a:ext cx="1380527" cy="4015895"/>
      </dsp:txXfrm>
    </dsp:sp>
    <dsp:sp modelId="{C73DE52A-2F45-45E6-AD0E-D5BEAF609F8E}">
      <dsp:nvSpPr>
        <dsp:cNvPr id="0" name=""/>
        <dsp:cNvSpPr/>
      </dsp:nvSpPr>
      <dsp:spPr>
        <a:xfrm>
          <a:off x="7740438" y="0"/>
          <a:ext cx="1581245" cy="100397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Final Review</a:t>
          </a:r>
        </a:p>
      </dsp:txBody>
      <dsp:txXfrm>
        <a:off x="7740438" y="0"/>
        <a:ext cx="1581245" cy="1003973"/>
      </dsp:txXfrm>
    </dsp:sp>
    <dsp:sp modelId="{FC0F1314-3294-4A8C-8DCE-EB53E236164C}">
      <dsp:nvSpPr>
        <dsp:cNvPr id="0" name=""/>
        <dsp:cNvSpPr/>
      </dsp:nvSpPr>
      <dsp:spPr>
        <a:xfrm>
          <a:off x="6191163" y="974984"/>
          <a:ext cx="1581245" cy="3934849"/>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00075">
            <a:lnSpc>
              <a:spcPct val="90000"/>
            </a:lnSpc>
            <a:spcBef>
              <a:spcPct val="0"/>
            </a:spcBef>
            <a:spcAft>
              <a:spcPct val="35000"/>
            </a:spcAft>
            <a:buNone/>
          </a:pPr>
          <a:endParaRPr lang="en-US" sz="1350" kern="1200" dirty="0"/>
        </a:p>
        <a:p>
          <a:pPr marL="0" lvl="0" indent="0" algn="l" defTabSz="600075">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Data cleaning, transformation, and structuring of datasets.</a:t>
          </a:r>
        </a:p>
        <a:p>
          <a:pPr marL="0" lvl="0" indent="0" algn="l" defTabSz="600075">
            <a:lnSpc>
              <a:spcPct val="90000"/>
            </a:lnSpc>
            <a:spcBef>
              <a:spcPct val="0"/>
            </a:spcBef>
            <a:spcAft>
              <a:spcPct val="35000"/>
            </a:spcAft>
            <a:buNone/>
          </a:pP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Creation of charts, dashboards, and trend analysis using Python for business reporting</a:t>
          </a:r>
          <a:r>
            <a:rPr lang="en-US" sz="1350" kern="1200" dirty="0"/>
            <a:t>.</a:t>
          </a:r>
          <a:endParaRPr lang="en-IN" sz="1350" kern="1200" dirty="0"/>
        </a:p>
      </dsp:txBody>
      <dsp:txXfrm>
        <a:off x="6391880" y="974984"/>
        <a:ext cx="1380527" cy="3934849"/>
      </dsp:txXfrm>
    </dsp:sp>
    <dsp:sp modelId="{2AAD338D-3122-4454-9A67-16BE024D44E3}">
      <dsp:nvSpPr>
        <dsp:cNvPr id="0" name=""/>
        <dsp:cNvSpPr/>
      </dsp:nvSpPr>
      <dsp:spPr>
        <a:xfrm>
          <a:off x="6163143" y="125496"/>
          <a:ext cx="1581245" cy="87847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4</a:t>
          </a:r>
        </a:p>
      </dsp:txBody>
      <dsp:txXfrm>
        <a:off x="6163143" y="125496"/>
        <a:ext cx="1581245" cy="878477"/>
      </dsp:txXfrm>
    </dsp:sp>
    <dsp:sp modelId="{2532504F-5FE1-4C97-B485-F05E8885EACC}">
      <dsp:nvSpPr>
        <dsp:cNvPr id="0" name=""/>
        <dsp:cNvSpPr/>
      </dsp:nvSpPr>
      <dsp:spPr>
        <a:xfrm>
          <a:off x="4600556" y="921730"/>
          <a:ext cx="1581245" cy="3925422"/>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711200">
            <a:lnSpc>
              <a:spcPct val="90000"/>
            </a:lnSpc>
            <a:spcBef>
              <a:spcPct val="0"/>
            </a:spcBef>
            <a:spcAft>
              <a:spcPct val="35000"/>
            </a:spcAft>
            <a:buNone/>
          </a:pPr>
          <a:endParaRPr lang="en-US" sz="1600" kern="1200" dirty="0">
            <a:latin typeface="Cambria" panose="02040503050406030204" pitchFamily="18" charset="0"/>
            <a:ea typeface="Cambria" panose="02040503050406030204" pitchFamily="18" charset="0"/>
          </a:endParaRPr>
        </a:p>
        <a:p>
          <a:pPr marL="0" lvl="0" indent="0" algn="l" defTabSz="711200">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Support for audit-related data verification and record validation</a:t>
          </a:r>
          <a:r>
            <a:rPr lang="en-US" sz="1600" kern="1200" dirty="0"/>
            <a:t>.</a:t>
          </a:r>
          <a:endParaRPr lang="en-US" sz="1600" kern="1200" dirty="0">
            <a:latin typeface="Times New Roman" panose="02020603050405020304" pitchFamily="18" charset="0"/>
            <a:cs typeface="Times New Roman" panose="02020603050405020304" pitchFamily="18" charset="0"/>
          </a:endParaRPr>
        </a:p>
      </dsp:txBody>
      <dsp:txXfrm>
        <a:off x="4801274" y="921730"/>
        <a:ext cx="1380527" cy="3925422"/>
      </dsp:txXfrm>
    </dsp:sp>
    <dsp:sp modelId="{4C66D42D-7E6D-4563-AFDC-369C30B73F70}">
      <dsp:nvSpPr>
        <dsp:cNvPr id="0" name=""/>
        <dsp:cNvSpPr/>
      </dsp:nvSpPr>
      <dsp:spPr>
        <a:xfrm>
          <a:off x="4581897" y="255009"/>
          <a:ext cx="1581245" cy="75298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3</a:t>
          </a:r>
        </a:p>
      </dsp:txBody>
      <dsp:txXfrm>
        <a:off x="4581897" y="255009"/>
        <a:ext cx="1581245" cy="752980"/>
      </dsp:txXfrm>
    </dsp:sp>
    <dsp:sp modelId="{06F8D57B-EDF4-4CF4-8700-DC2CA3E3028E}">
      <dsp:nvSpPr>
        <dsp:cNvPr id="0" name=""/>
        <dsp:cNvSpPr/>
      </dsp:nvSpPr>
      <dsp:spPr>
        <a:xfrm>
          <a:off x="3045084" y="1028918"/>
          <a:ext cx="1581245" cy="3804330"/>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a:p>
          <a:pPr marL="0" lvl="0" indent="0" algn="l"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Data extraction from Tally to Excel.</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Data entry, data organization, and management of operational and financial datasets.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Preparation of basic Excel reports and summaries.</a:t>
          </a:r>
        </a:p>
        <a:p>
          <a:pPr marL="0" lvl="0" indent="0" algn="r"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dsp:txBody>
      <dsp:txXfrm>
        <a:off x="3245802" y="1028918"/>
        <a:ext cx="1380527" cy="3804330"/>
      </dsp:txXfrm>
    </dsp:sp>
    <dsp:sp modelId="{00BB3360-A9BB-4051-A4B1-1216F82F642C}">
      <dsp:nvSpPr>
        <dsp:cNvPr id="0" name=""/>
        <dsp:cNvSpPr/>
      </dsp:nvSpPr>
      <dsp:spPr>
        <a:xfrm>
          <a:off x="3000651" y="376490"/>
          <a:ext cx="1581245" cy="62748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2</a:t>
          </a:r>
        </a:p>
      </dsp:txBody>
      <dsp:txXfrm>
        <a:off x="3000651" y="376490"/>
        <a:ext cx="1581245" cy="627483"/>
      </dsp:txXfrm>
    </dsp:sp>
    <dsp:sp modelId="{A134CDD1-D85F-44EF-8BEE-9F99A855C1E6}">
      <dsp:nvSpPr>
        <dsp:cNvPr id="0" name=""/>
        <dsp:cNvSpPr/>
      </dsp:nvSpPr>
      <dsp:spPr>
        <a:xfrm>
          <a:off x="1438048" y="1074347"/>
          <a:ext cx="1581245" cy="356427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688975">
            <a:lnSpc>
              <a:spcPct val="90000"/>
            </a:lnSpc>
            <a:spcBef>
              <a:spcPct val="0"/>
            </a:spcBef>
            <a:spcAft>
              <a:spcPct val="35000"/>
            </a:spcAft>
            <a:buNone/>
          </a:pPr>
          <a:endParaRPr lang="en-US" sz="1550" kern="1200" dirty="0">
            <a:latin typeface="Cambria" panose="02040503050406030204" pitchFamily="18" charset="0"/>
            <a:ea typeface="Cambria" panose="02040503050406030204" pitchFamily="18" charset="0"/>
          </a:endParaRPr>
        </a:p>
        <a:p>
          <a:pPr marL="0" lvl="0" indent="0" algn="just"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Introduction to Tally, Excel, and basic reporting procedures</a:t>
          </a:r>
          <a:r>
            <a:rPr lang="en-US" sz="1550" kern="1200" dirty="0"/>
            <a:t>.</a:t>
          </a:r>
          <a:endParaRPr lang="en-US" sz="1550" kern="1200" dirty="0">
            <a:latin typeface="Times New Roman" panose="02020603050405020304" pitchFamily="18" charset="0"/>
            <a:cs typeface="Times New Roman" panose="02020603050405020304" pitchFamily="18" charset="0"/>
          </a:endParaRPr>
        </a:p>
      </dsp:txBody>
      <dsp:txXfrm>
        <a:off x="1638766" y="1074347"/>
        <a:ext cx="1380527" cy="3564277"/>
      </dsp:txXfrm>
    </dsp:sp>
    <dsp:sp modelId="{65257024-FAC0-4522-B139-1CC85B547BE8}">
      <dsp:nvSpPr>
        <dsp:cNvPr id="0" name=""/>
        <dsp:cNvSpPr/>
      </dsp:nvSpPr>
      <dsp:spPr>
        <a:xfrm>
          <a:off x="1419406" y="501986"/>
          <a:ext cx="1581245" cy="50198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1</a:t>
          </a:r>
        </a:p>
      </dsp:txBody>
      <dsp:txXfrm>
        <a:off x="1419406" y="501986"/>
        <a:ext cx="1581245" cy="501986"/>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02/02/2026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02-02-2026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02-02-2026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02-02-2026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02-02-2026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02-02-2026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02-02-2026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02-02-2026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02-02-2026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02-02-2026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02-02-2026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02-02-2026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02-02-2026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075791"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2000" b="1" dirty="0" err="1">
                <a:solidFill>
                  <a:srgbClr val="17365D"/>
                </a:solidFill>
                <a:latin typeface="Cambria" panose="02040503050406030204" pitchFamily="18" charset="0"/>
                <a:ea typeface="Cambria" panose="02040503050406030204" pitchFamily="18" charset="0"/>
                <a:cs typeface="Verdana"/>
                <a:sym typeface="Verdana"/>
              </a:rPr>
              <a:t>Dr.Taranath</a:t>
            </a:r>
            <a:r>
              <a:rPr lang="en-GB" sz="2000" b="1" dirty="0">
                <a:solidFill>
                  <a:srgbClr val="17365D"/>
                </a:solidFill>
                <a:latin typeface="Cambria" panose="02040503050406030204" pitchFamily="18" charset="0"/>
                <a:ea typeface="Cambria" panose="02040503050406030204" pitchFamily="18" charset="0"/>
                <a:cs typeface="Verdana"/>
                <a:sym typeface="Verdana"/>
              </a:rPr>
              <a:t> N L</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Associate Professor</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School of CSE</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dirty="0">
                <a:latin typeface="Cambria" panose="02040503050406030204" pitchFamily="18" charset="0"/>
                <a:ea typeface="Cambria" panose="02040503050406030204" pitchFamily="18" charset="0"/>
              </a:rPr>
              <a:t>CSE7302- 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latin typeface="Cambria" panose="02040503050406030204" pitchFamily="18" charset="0"/>
                <a:ea typeface="Cambria" panose="02040503050406030204" pitchFamily="18" charset="0"/>
              </a:rPr>
              <a:t>Dr. Asif Mohammed </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cs typeface="Times New Roman" panose="02020603050405020304" pitchFamily="18" charset="0"/>
              </a:rPr>
              <a:t>DATA ANALYTICS IN TEA PLANTATION BUSINESS OPERATIONS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622666885"/>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PREETHA GUHA</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20221CSE0271</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8CSE10</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CONTENT </a:t>
            </a:r>
            <a:endParaRPr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04516" y="902370"/>
            <a:ext cx="10668000" cy="502256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400" dirty="0">
                <a:latin typeface="Cambria" panose="02040503050406030204" pitchFamily="18" charset="0"/>
                <a:ea typeface="Cambria" panose="020405030504060302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Working domain or the technology</a:t>
            </a:r>
            <a:endParaRPr lang="en-US" sz="24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About your team and reporting Manager</a:t>
            </a:r>
            <a:endParaRPr lang="en-US" sz="24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Challenges Faced in Internship</a:t>
            </a:r>
            <a:endParaRPr lang="en-US" sz="24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Advantages of Proposed Work</a:t>
            </a:r>
          </a:p>
          <a:p>
            <a:pPr marL="495300" indent="-342900" algn="just">
              <a:lnSpc>
                <a:spcPct val="100000"/>
              </a:lnSpc>
              <a:spcBef>
                <a:spcPts val="0"/>
              </a:spcBef>
              <a:buFont typeface="Wingdings" panose="05000000000000000000" pitchFamily="2" charset="2"/>
              <a:buChar char="Ø"/>
            </a:pPr>
            <a:r>
              <a:rPr lang="en-IN" sz="2400" dirty="0">
                <a:latin typeface="Cambria" panose="02040503050406030204" pitchFamily="18" charset="0"/>
                <a:ea typeface="Cambria" panose="020405030504060302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400" dirty="0" err="1">
                <a:latin typeface="Cambria" panose="02040503050406030204" pitchFamily="18" charset="0"/>
                <a:ea typeface="Cambria" panose="02040503050406030204" pitchFamily="18" charset="0"/>
                <a:cs typeface="Times New Roman" panose="02020603050405020304" pitchFamily="18" charset="0"/>
              </a:rPr>
              <a:t>Github</a:t>
            </a:r>
            <a:r>
              <a:rPr lang="en-IN" sz="2400" dirty="0">
                <a:latin typeface="Cambria" panose="02040503050406030204" pitchFamily="18" charset="0"/>
                <a:ea typeface="Cambria" panose="02040503050406030204" pitchFamily="18" charset="0"/>
                <a:cs typeface="Times New Roman" panose="02020603050405020304" pitchFamily="18" charset="0"/>
              </a:rPr>
              <a:t> Link</a:t>
            </a:r>
            <a:endParaRPr lang="en-US" sz="2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548" y="249429"/>
            <a:ext cx="11370906" cy="1025135"/>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Cambria" panose="02040503050406030204" pitchFamily="18" charset="0"/>
                <a:ea typeface="Cambria" panose="02040503050406030204" pitchFamily="18" charset="0"/>
              </a:rPr>
              <a:t>Bhardeswar</a:t>
            </a:r>
            <a:r>
              <a:rPr lang="en-US" sz="3200" b="1" dirty="0">
                <a:solidFill>
                  <a:schemeClr val="accent1">
                    <a:lumMod val="75000"/>
                  </a:schemeClr>
                </a:solidFill>
                <a:latin typeface="Cambria" panose="02040503050406030204" pitchFamily="18" charset="0"/>
                <a:ea typeface="Cambria" panose="020405030504060302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10546" y="1274564"/>
            <a:ext cx="11140751" cy="4538407"/>
          </a:xfrm>
        </p:spPr>
        <p:txBody>
          <a:bodyPr>
            <a:noAutofit/>
          </a:bodyPr>
          <a:lstStyle/>
          <a:p>
            <a:pPr algn="just"/>
            <a:r>
              <a:rPr lang="en-US" sz="2100" dirty="0" err="1">
                <a:latin typeface="Cambria" panose="02040503050406030204" pitchFamily="18" charset="0"/>
                <a:ea typeface="Cambria" panose="02040503050406030204" pitchFamily="18" charset="0"/>
              </a:rPr>
              <a:t>Bhardeswar</a:t>
            </a:r>
            <a:r>
              <a:rPr lang="en-US" sz="2100" dirty="0">
                <a:latin typeface="Cambria" panose="02040503050406030204" pitchFamily="18" charset="0"/>
                <a:ea typeface="Cambria" panose="02040503050406030204" pitchFamily="18" charset="0"/>
              </a:rPr>
              <a:t> Tea Plantation Company Private Limited was registered at Registrar of Companies Kolkata on 15 November, 1990 and is </a:t>
            </a:r>
            <a:r>
              <a:rPr lang="en-US" sz="2100" dirty="0" err="1">
                <a:latin typeface="Cambria" panose="02040503050406030204" pitchFamily="18" charset="0"/>
                <a:ea typeface="Cambria" panose="02040503050406030204" pitchFamily="18" charset="0"/>
              </a:rPr>
              <a:t>categorised</a:t>
            </a:r>
            <a:r>
              <a:rPr lang="en-US" sz="2100" dirty="0">
                <a:latin typeface="Cambria" panose="02040503050406030204" pitchFamily="18" charset="0"/>
                <a:ea typeface="Cambria" panose="02040503050406030204" pitchFamily="18" charset="0"/>
              </a:rPr>
              <a:t> as Company limited by Shares and an Non-govt company. The firm provides tea plantation with cultivation, processing and inventory management of the tea. Having more than 30 years of operating experience, the company abides by well-defined accounting, operational and compliance practices to optimize its business behaviors.</a:t>
            </a:r>
          </a:p>
          <a:p>
            <a:pPr marL="0" indent="0" algn="just">
              <a:buNone/>
            </a:pPr>
            <a:endParaRPr lang="en-US" sz="21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The company is based in Jalpaiguri, West Bengal and is active as a working </a:t>
            </a:r>
            <a:r>
              <a:rPr lang="en-US" sz="2100" dirty="0" err="1">
                <a:latin typeface="Cambria" panose="02040503050406030204" pitchFamily="18" charset="0"/>
                <a:ea typeface="Cambria" panose="02040503050406030204" pitchFamily="18" charset="0"/>
              </a:rPr>
              <a:t>organisation</a:t>
            </a:r>
            <a:r>
              <a:rPr lang="en-US" sz="2100" dirty="0">
                <a:latin typeface="Cambria" panose="02040503050406030204" pitchFamily="18" charset="0"/>
                <a:ea typeface="Cambria" panose="02040503050406030204" pitchFamily="18" charset="0"/>
              </a:rPr>
              <a:t> in the agriculture &amp; plantation industry. It keeps extensive information on production, inventory, cost and sales that generate large quantity of operational and financial data. This data forms a solid basis for the application of data analytics methods to boost reporting, business insight and operational decision making.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72518-C653-4668-CCC6-557192BA47AB}"/>
              </a:ext>
            </a:extLst>
          </p:cNvPr>
          <p:cNvSpPr>
            <a:spLocks noGrp="1"/>
          </p:cNvSpPr>
          <p:nvPr>
            <p:ph type="title"/>
          </p:nvPr>
        </p:nvSpPr>
        <p:spPr>
          <a:xfrm>
            <a:off x="636813" y="240652"/>
            <a:ext cx="11151637" cy="1009651"/>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Bhardeswar</a:t>
            </a:r>
            <a:r>
              <a:rPr lang="en-US" sz="32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52DBF0-E660-3C29-5151-1F28149A0DE6}"/>
              </a:ext>
            </a:extLst>
          </p:cNvPr>
          <p:cNvSpPr>
            <a:spLocks noGrp="1"/>
          </p:cNvSpPr>
          <p:nvPr>
            <p:ph idx="1"/>
          </p:nvPr>
        </p:nvSpPr>
        <p:spPr>
          <a:xfrm>
            <a:off x="636813" y="1250303"/>
            <a:ext cx="10716987" cy="4767942"/>
          </a:xfrm>
        </p:spPr>
        <p:txBody>
          <a:bodyPr>
            <a:normAutofit/>
          </a:bodyPr>
          <a:lstStyle/>
          <a:p>
            <a:pPr algn="just"/>
            <a:r>
              <a:rPr lang="en-US" sz="2100" dirty="0">
                <a:latin typeface="Cambria" panose="02040503050406030204" pitchFamily="18" charset="0"/>
                <a:ea typeface="Cambria" panose="02040503050406030204" pitchFamily="18" charset="0"/>
              </a:rPr>
              <a:t>The company’s operations involve multiple functional areas such as plantation field activities, labor coordination, inventory control, accounting, and sales-related processes. These activities require regular monitoring and documentation to ensure smooth day-to-day operations and financial accuracy. The organization follows systematic record-keeping practices to support internal reviews, audits, and statutory compliance.</a:t>
            </a:r>
          </a:p>
          <a:p>
            <a:pPr marL="0" indent="0" algn="just">
              <a:buNone/>
            </a:pPr>
            <a:endParaRPr lang="en-US" sz="22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As a tea plantation business, the company operates in a seasonal production environment, where output, expenses, and sales vary across different periods of the year. This results in fluctuating operational and financial data, making structured data analysis and reporting important for understanding trends, managing costs, and improving operational efficiency. The availability of historical data provides opportunities to apply data analytics for better business insights and decision support.</a:t>
            </a:r>
          </a:p>
          <a:p>
            <a:pPr algn="just"/>
            <a:endParaRPr lang="en-IN" dirty="0"/>
          </a:p>
        </p:txBody>
      </p:sp>
      <p:sp>
        <p:nvSpPr>
          <p:cNvPr id="5" name="Slide Number Placeholder 4">
            <a:extLst>
              <a:ext uri="{FF2B5EF4-FFF2-40B4-BE49-F238E27FC236}">
                <a16:creationId xmlns:a16="http://schemas.microsoft.com/office/drawing/2014/main" id="{31016F5D-1D03-3AE3-997E-F052B07A844F}"/>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193089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218" y="201839"/>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394218" y="1110343"/>
            <a:ext cx="11403564" cy="5327779"/>
          </a:xfrm>
        </p:spPr>
        <p:txBody>
          <a:bodyPr>
            <a:normAutofit/>
          </a:bodyPr>
          <a:lstStyle/>
          <a:p>
            <a:pPr marL="0" indent="0" algn="just">
              <a:buNone/>
            </a:pPr>
            <a:r>
              <a:rPr lang="en-IN" sz="2000" b="1" dirty="0">
                <a:latin typeface="Cambria" panose="02040503050406030204" pitchFamily="18" charset="0"/>
                <a:ea typeface="Cambria" panose="02040503050406030204" pitchFamily="18" charset="0"/>
              </a:rPr>
              <a:t>ASSIGNED DOMAIN</a:t>
            </a:r>
          </a:p>
          <a:p>
            <a:pPr marL="0" indent="0" algn="just">
              <a:buNone/>
            </a:pPr>
            <a:r>
              <a:rPr lang="en-US" sz="2000" dirty="0">
                <a:latin typeface="Cambria" panose="02040503050406030204" pitchFamily="18" charset="0"/>
                <a:ea typeface="Cambria" panose="02040503050406030204" pitchFamily="18" charset="0"/>
              </a:rPr>
              <a:t>Data Analysis and Reporting in Tea Plantation Business</a:t>
            </a:r>
          </a:p>
          <a:p>
            <a:pPr algn="just"/>
            <a:r>
              <a:rPr lang="en-US" sz="2000" b="1" dirty="0">
                <a:latin typeface="Cambria" panose="02040503050406030204" pitchFamily="18" charset="0"/>
                <a:ea typeface="Cambria" panose="02040503050406030204" pitchFamily="18" charset="0"/>
              </a:rPr>
              <a:t>ROLE OF TECHNOLOGY IN THIS DOMAIN</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Tally:</a:t>
            </a:r>
            <a:r>
              <a:rPr lang="en-US" sz="2000" dirty="0">
                <a:latin typeface="Cambria" panose="02040503050406030204" pitchFamily="18" charset="0"/>
                <a:ea typeface="Cambria" panose="02040503050406030204" pitchFamily="18" charset="0"/>
              </a:rPr>
              <a:t> Primary source of accounting, sales, and inventory data used for business operations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Microsoft Excel:</a:t>
            </a:r>
            <a:r>
              <a:rPr lang="en-US" sz="2000" dirty="0">
                <a:latin typeface="Cambria" panose="02040503050406030204" pitchFamily="18" charset="0"/>
                <a:ea typeface="Cambria" panose="02040503050406030204" pitchFamily="18" charset="0"/>
              </a:rPr>
              <a:t> Data cleaning, organization, management, and preparation of structured reports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Python:</a:t>
            </a:r>
            <a:r>
              <a:rPr lang="en-US" sz="2000" dirty="0">
                <a:latin typeface="Cambria" panose="02040503050406030204" pitchFamily="18" charset="0"/>
                <a:ea typeface="Cambria" panose="02040503050406030204" pitchFamily="18" charset="0"/>
              </a:rPr>
              <a:t> Supporting basic data validation, cleaning, and simple data processing tasks</a:t>
            </a:r>
          </a:p>
          <a:p>
            <a:pPr marL="0" indent="0" algn="just">
              <a:buNone/>
            </a:pPr>
            <a:endParaRPr lang="en-US" sz="2000"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FEATURES &amp; IMPORTANCE OF THE ASSIGNED DOMAIN</a:t>
            </a: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Works with real tea plantation operational and financial data for analysis and reporting</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Helps structure data to identify trends and support data-driven business decisions</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Improves reporting efficiency and provides hands-on exposure to analytics tools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0" indent="0" algn="just">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dirty="0"/>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951" y="45782"/>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my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3">
            <a:extLst>
              <a:ext uri="{FF2B5EF4-FFF2-40B4-BE49-F238E27FC236}">
                <a16:creationId xmlns:a16="http://schemas.microsoft.com/office/drawing/2014/main" id="{C3EE3A7E-ED00-45B3-E87C-6F22B411607C}"/>
              </a:ext>
            </a:extLst>
          </p:cNvPr>
          <p:cNvSpPr>
            <a:spLocks noGrp="1" noChangeArrowheads="1"/>
          </p:cNvSpPr>
          <p:nvPr>
            <p:ph idx="1"/>
          </p:nvPr>
        </p:nvSpPr>
        <p:spPr bwMode="auto">
          <a:xfrm>
            <a:off x="533717" y="865023"/>
            <a:ext cx="1112456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internship training is carried out under the guidance of the accounts and operations team of the tea plantation company.</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During this phase, the team introduces the business structure, accounting workflow, and operational processes followed in the organization.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senior staff member supervises the training activities and provides instructions and learning guidance.</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reporting structure involves regular interaction, monitoring, and clarification sessions with the reporting manager.</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team explains standard procedures followed for data entry, record maintenance, and reporting activities.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Training sessions focus on understanding data sources, documentation practices, and accuracy requirements.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working environment supports learning, supervision, and gradual exposure to team-based activities during the training period.</a:t>
            </a: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058714"/>
            <a:ext cx="11058331" cy="4740572"/>
          </a:xfrm>
        </p:spPr>
        <p:txBody>
          <a:bodyPr>
            <a:noAutofit/>
          </a:bodyPr>
          <a:lstStyle/>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Finding a suitable internship opportunity related to the academic domain and industry exposure</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Understanding the tea plantation business environment and operational workflow</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Learning to work with real accounting and operational data using tools like Tally </a:t>
            </a:r>
          </a:p>
          <a:p>
            <a:pPr marL="0" indent="0" algn="just">
              <a:buNone/>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Adjusting to a professional work environment and understanding office procedures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Coordinating with team members and adapting to new roles and responsibilities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Ensuring data accuracy and following proper documentation and reporting standards</a:t>
            </a:r>
          </a:p>
          <a:p>
            <a:pPr marL="0" indent="0">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261"/>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6" name="Rectangle 2">
            <a:extLst>
              <a:ext uri="{FF2B5EF4-FFF2-40B4-BE49-F238E27FC236}">
                <a16:creationId xmlns:a16="http://schemas.microsoft.com/office/drawing/2014/main" id="{E719DE4A-CADF-A6CE-46F0-8DE50BE054AC}"/>
              </a:ext>
            </a:extLst>
          </p:cNvPr>
          <p:cNvSpPr>
            <a:spLocks noGrp="1" noChangeArrowheads="1"/>
          </p:cNvSpPr>
          <p:nvPr>
            <p:ph idx="1"/>
          </p:nvPr>
        </p:nvSpPr>
        <p:spPr bwMode="auto">
          <a:xfrm>
            <a:off x="838200" y="1244279"/>
            <a:ext cx="1114230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operational and financial data is generated and maintained in a tea plantation business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learn data extraction from accounting systems such as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Tally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Prime and organize the data using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Excel</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perform basic data handling tasks such as sorting, filtering, and structuring datasets for analysis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accurate record keeping and improve data consistency and reliability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assist in preparing simple analytical reports and summaries for operational review</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data analytics techniques can support business monitoring and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33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5C1-F29C-D597-1C88-B8BC65B514CD}"/>
              </a:ext>
            </a:extLst>
          </p:cNvPr>
          <p:cNvSpPr>
            <a:spLocks noGrp="1"/>
          </p:cNvSpPr>
          <p:nvPr>
            <p:ph type="title"/>
          </p:nvPr>
        </p:nvSpPr>
        <p:spPr>
          <a:xfrm>
            <a:off x="838200" y="-135188"/>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3200" dirty="0"/>
          </a:p>
        </p:txBody>
      </p:sp>
      <p:sp>
        <p:nvSpPr>
          <p:cNvPr id="3" name="Content Placeholder 2">
            <a:extLst>
              <a:ext uri="{FF2B5EF4-FFF2-40B4-BE49-F238E27FC236}">
                <a16:creationId xmlns:a16="http://schemas.microsoft.com/office/drawing/2014/main" id="{E93282C1-D79B-E0C7-FD80-303F18C2C4BF}"/>
              </a:ext>
            </a:extLst>
          </p:cNvPr>
          <p:cNvSpPr>
            <a:spLocks noGrp="1"/>
          </p:cNvSpPr>
          <p:nvPr>
            <p:ph idx="1"/>
          </p:nvPr>
        </p:nvSpPr>
        <p:spPr>
          <a:xfrm>
            <a:off x="726233" y="926760"/>
            <a:ext cx="10890379" cy="4351338"/>
          </a:xfrm>
        </p:spPr>
        <p:txBody>
          <a:bodyPr>
            <a:normAutofit/>
          </a:bodyPr>
          <a:lstStyle/>
          <a:p>
            <a:pPr algn="just"/>
            <a:r>
              <a:rPr lang="en-US" sz="2040" dirty="0">
                <a:latin typeface="Cambria" panose="02040503050406030204" pitchFamily="18" charset="0"/>
                <a:ea typeface="Cambria" panose="02040503050406030204" pitchFamily="18" charset="0"/>
              </a:rPr>
              <a:t>Previous studies and industry practices highlight the importance of data analytics in financial and operational decision-making. Research indicates that analysis of Balance Sheet and Profit &amp; Loss data helps organizations understand profitability, cost structure, and financial stability. In many small and medium-scale organizations, accounting software such as </a:t>
            </a:r>
            <a:r>
              <a:rPr lang="en-US" sz="2040" b="1" dirty="0">
                <a:latin typeface="Cambria" panose="02040503050406030204" pitchFamily="18" charset="0"/>
                <a:ea typeface="Cambria" panose="02040503050406030204" pitchFamily="18" charset="0"/>
              </a:rPr>
              <a:t>Tally</a:t>
            </a:r>
            <a:r>
              <a:rPr lang="en-US" sz="2040" dirty="0">
                <a:latin typeface="Cambria" panose="02040503050406030204" pitchFamily="18" charset="0"/>
                <a:ea typeface="Cambria" panose="02040503050406030204" pitchFamily="18" charset="0"/>
              </a:rPr>
              <a:t> is widely used for maintaining financial records, vouchers, and statutory data.</a:t>
            </a:r>
          </a:p>
          <a:p>
            <a:pPr algn="just"/>
            <a:endParaRPr lang="en-US" sz="2040" dirty="0">
              <a:latin typeface="Cambria" panose="02040503050406030204" pitchFamily="18" charset="0"/>
              <a:ea typeface="Cambria" panose="02040503050406030204" pitchFamily="18" charset="0"/>
            </a:endParaRPr>
          </a:p>
          <a:p>
            <a:pPr algn="just"/>
            <a:r>
              <a:rPr lang="en-US" sz="2040" dirty="0">
                <a:latin typeface="Cambria" panose="02040503050406030204" pitchFamily="18" charset="0"/>
                <a:ea typeface="Cambria" panose="02040503050406030204" pitchFamily="18" charset="0"/>
              </a:rPr>
              <a:t>Literature also shows that while Tally is effective for accounting and compliance, it offers limited analytical and visualization capabilities. Therefore, data extracted from Tally is often processed using tools such as </a:t>
            </a:r>
            <a:r>
              <a:rPr lang="en-US" sz="2040" b="1" dirty="0">
                <a:latin typeface="Cambria" panose="02040503050406030204" pitchFamily="18" charset="0"/>
                <a:ea typeface="Cambria" panose="02040503050406030204" pitchFamily="18" charset="0"/>
              </a:rPr>
              <a:t>Microsoft Excel</a:t>
            </a:r>
            <a:r>
              <a:rPr lang="en-US" sz="2040" dirty="0">
                <a:latin typeface="Cambria" panose="02040503050406030204" pitchFamily="18" charset="0"/>
                <a:ea typeface="Cambria" panose="02040503050406030204" pitchFamily="18" charset="0"/>
              </a:rPr>
              <a:t> for data handling and </a:t>
            </a:r>
            <a:r>
              <a:rPr lang="en-US" sz="2040" b="1" dirty="0">
                <a:latin typeface="Cambria" panose="02040503050406030204" pitchFamily="18" charset="0"/>
                <a:ea typeface="Cambria" panose="02040503050406030204" pitchFamily="18" charset="0"/>
              </a:rPr>
              <a:t>Python</a:t>
            </a:r>
            <a:r>
              <a:rPr lang="en-US" sz="2040" dirty="0">
                <a:latin typeface="Cambria" panose="02040503050406030204" pitchFamily="18" charset="0"/>
                <a:ea typeface="Cambria" panose="02040503050406030204" pitchFamily="18" charset="0"/>
              </a:rPr>
              <a:t> for advanced analysis and visualization. Studies emphasize that combining accounting systems with data analytics tools improves accuracy, efficiency, trend identification, and business insight generation, especially in agriculture and plantation-based industries.</a:t>
            </a:r>
          </a:p>
          <a:p>
            <a:endParaRPr lang="en-IN" dirty="0"/>
          </a:p>
        </p:txBody>
      </p:sp>
      <p:sp>
        <p:nvSpPr>
          <p:cNvPr id="5" name="Slide Number Placeholder 4">
            <a:extLst>
              <a:ext uri="{FF2B5EF4-FFF2-40B4-BE49-F238E27FC236}">
                <a16:creationId xmlns:a16="http://schemas.microsoft.com/office/drawing/2014/main" id="{5616E1C0-14A6-7618-F8B5-74F348823553}"/>
              </a:ext>
            </a:extLst>
          </p:cNvPr>
          <p:cNvSpPr>
            <a:spLocks noGrp="1"/>
          </p:cNvSpPr>
          <p:nvPr>
            <p:ph type="sldNum" sz="quarter" idx="12"/>
          </p:nvPr>
        </p:nvSpPr>
        <p:spPr/>
        <p:txBody>
          <a:bodyPr/>
          <a:lstStyle/>
          <a:p>
            <a:fld id="{F32F6845-8F47-4AB8-B9CE-96D88E741707}" type="slidenum">
              <a:rPr lang="en-IN" smtClean="0"/>
              <a:pPr/>
              <a:t>9</a:t>
            </a:fld>
            <a:endParaRPr lang="en-IN" dirty="0"/>
          </a:p>
        </p:txBody>
      </p:sp>
    </p:spTree>
    <p:extLst>
      <p:ext uri="{BB962C8B-B14F-4D97-AF65-F5344CB8AC3E}">
        <p14:creationId xmlns:p14="http://schemas.microsoft.com/office/powerpoint/2010/main" val="376854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CA7A-6E91-E444-CB3E-86F590F7060D}"/>
              </a:ext>
            </a:extLst>
          </p:cNvPr>
          <p:cNvSpPr>
            <a:spLocks noGrp="1"/>
          </p:cNvSpPr>
          <p:nvPr>
            <p:ph type="title"/>
          </p:nvPr>
        </p:nvSpPr>
        <p:spPr>
          <a:xfrm>
            <a:off x="838200" y="-110736"/>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Work</a:t>
            </a:r>
            <a:endParaRPr lang="en-IN" sz="3200" dirty="0"/>
          </a:p>
        </p:txBody>
      </p:sp>
      <p:sp>
        <p:nvSpPr>
          <p:cNvPr id="3" name="Content Placeholder 2">
            <a:extLst>
              <a:ext uri="{FF2B5EF4-FFF2-40B4-BE49-F238E27FC236}">
                <a16:creationId xmlns:a16="http://schemas.microsoft.com/office/drawing/2014/main" id="{EA880C91-A267-28B8-12F6-D1A06FA5FB81}"/>
              </a:ext>
            </a:extLst>
          </p:cNvPr>
          <p:cNvSpPr>
            <a:spLocks noGrp="1"/>
          </p:cNvSpPr>
          <p:nvPr>
            <p:ph idx="1"/>
          </p:nvPr>
        </p:nvSpPr>
        <p:spPr>
          <a:xfrm>
            <a:off x="772885" y="939216"/>
            <a:ext cx="10918371" cy="5228320"/>
          </a:xfrm>
        </p:spPr>
        <p:txBody>
          <a:bodyPr>
            <a:normAutofit fontScale="92500" lnSpcReduction="10000"/>
          </a:bodyPr>
          <a:lstStyle/>
          <a:p>
            <a:pPr algn="just"/>
            <a:r>
              <a:rPr lang="en-US" sz="2200" dirty="0">
                <a:latin typeface="Cambria" panose="02040503050406030204" pitchFamily="18" charset="0"/>
                <a:ea typeface="Cambria" panose="02040503050406030204" pitchFamily="18" charset="0"/>
              </a:rPr>
              <a:t>Financial and operational data is maintained in Tally, including Balance Sheet, Profit &amp; Loss, Notes, and Depreciation records.</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financial data is extracted into Excel for structured data handling and validation. The extracted data is cleaned and organized to remove inconsistencies and improve accuracy.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Python is used to perform financial analysis such as profitability, expense analysis, and asset–liability evaluation.</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Charts and visualizations are generated to present insights clearly.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cleaned and analyzed data is shared with the audit and accounts team for further financial review, statutory audit support, and business decision-making.</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overall approach supports better reporting, operational efficiency, and business growth.</a:t>
            </a:r>
          </a:p>
          <a:p>
            <a:endParaRPr lang="en-IN" dirty="0"/>
          </a:p>
        </p:txBody>
      </p:sp>
      <p:sp>
        <p:nvSpPr>
          <p:cNvPr id="5" name="Slide Number Placeholder 4">
            <a:extLst>
              <a:ext uri="{FF2B5EF4-FFF2-40B4-BE49-F238E27FC236}">
                <a16:creationId xmlns:a16="http://schemas.microsoft.com/office/drawing/2014/main" id="{ADEC8FF9-6D5C-3253-9162-1E0A5E9E012E}"/>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29436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5E7E-DE3F-8BCA-B363-F5E04801AB4B}"/>
              </a:ext>
            </a:extLst>
          </p:cNvPr>
          <p:cNvSpPr>
            <a:spLocks noGrp="1"/>
          </p:cNvSpPr>
          <p:nvPr>
            <p:ph type="ctrTitle"/>
          </p:nvPr>
        </p:nvSpPr>
        <p:spPr>
          <a:xfrm>
            <a:off x="712237" y="155185"/>
            <a:ext cx="9144000" cy="718458"/>
          </a:xfrm>
        </p:spPr>
        <p:txBody>
          <a:bodyPr>
            <a:noAutofit/>
          </a:bodyPr>
          <a:lstStyle/>
          <a:p>
            <a:pPr algn="l"/>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dirty="0"/>
          </a:p>
        </p:txBody>
      </p:sp>
      <p:sp>
        <p:nvSpPr>
          <p:cNvPr id="3" name="Subtitle 2">
            <a:extLst>
              <a:ext uri="{FF2B5EF4-FFF2-40B4-BE49-F238E27FC236}">
                <a16:creationId xmlns:a16="http://schemas.microsoft.com/office/drawing/2014/main" id="{90F3781E-1F35-5CA3-F7FB-C7DCC241526A}"/>
              </a:ext>
            </a:extLst>
          </p:cNvPr>
          <p:cNvSpPr>
            <a:spLocks noGrp="1"/>
          </p:cNvSpPr>
          <p:nvPr>
            <p:ph type="subTitle" idx="1"/>
          </p:nvPr>
        </p:nvSpPr>
        <p:spPr>
          <a:xfrm>
            <a:off x="506964" y="1082350"/>
            <a:ext cx="10341429" cy="4138127"/>
          </a:xfrm>
        </p:spPr>
        <p:txBody>
          <a:bodyPr>
            <a:noAutofit/>
          </a:bodyPr>
          <a:lstStyle/>
          <a:p>
            <a:pPr marL="342900" indent="-342900" algn="just">
              <a:lnSpc>
                <a:spcPct val="150000"/>
              </a:lnSpc>
              <a:buFont typeface="Wingdings" panose="05000000000000000000" pitchFamily="2" charset="2"/>
              <a:buChar char="Ø"/>
            </a:pPr>
            <a:r>
              <a:rPr lang="en-US" sz="2000" dirty="0">
                <a:latin typeface="Cambria" panose="02040503050406030204" pitchFamily="18" charset="0"/>
                <a:ea typeface="Cambria" panose="02040503050406030204" pitchFamily="18" charset="0"/>
              </a:rPr>
              <a:t>Data analytics plays a crucial role in understanding business performance and supporting informed decision-making. However, in the tea plantation company, financial data maintained through accounting software and spreadsheets is primarily used for record-keeping and statutory compliance, with limited analytical processing. This makes it difficult to derive insights related to profitability, expense patterns, asset utilization, and overall financial health. Hence, there is a need for a structured data analytics approach to analyze financial statements, improve reporting efficiency, and support audit and business growth activities.</a:t>
            </a:r>
            <a:endParaRPr lang="en-IN" sz="2000"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1F988103-FF97-C01C-40EF-0CE555836E2A}"/>
              </a:ext>
            </a:extLst>
          </p:cNvPr>
          <p:cNvSpPr>
            <a:spLocks noGrp="1"/>
          </p:cNvSpPr>
          <p:nvPr>
            <p:ph type="sldNum" sz="quarter" idx="12"/>
          </p:nvPr>
        </p:nvSpPr>
        <p:spPr/>
        <p:txBody>
          <a:bodyPr/>
          <a:lstStyle/>
          <a:p>
            <a:fld id="{F32F6845-8F47-4AB8-B9CE-96D88E741707}" type="slidenum">
              <a:rPr lang="en-IN" smtClean="0"/>
              <a:t>11</a:t>
            </a:fld>
            <a:endParaRPr lang="en-IN" dirty="0"/>
          </a:p>
        </p:txBody>
      </p:sp>
    </p:spTree>
    <p:extLst>
      <p:ext uri="{BB962C8B-B14F-4D97-AF65-F5344CB8AC3E}">
        <p14:creationId xmlns:p14="http://schemas.microsoft.com/office/powerpoint/2010/main" val="2173003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7655-4368-131E-7C4A-21AD5A5EACF2}"/>
              </a:ext>
            </a:extLst>
          </p:cNvPr>
          <p:cNvSpPr>
            <a:spLocks noGrp="1"/>
          </p:cNvSpPr>
          <p:nvPr>
            <p:ph type="title"/>
          </p:nvPr>
        </p:nvSpPr>
        <p:spPr>
          <a:xfrm>
            <a:off x="744894" y="-130629"/>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Work</a:t>
            </a:r>
            <a:endParaRPr lang="en-IN" sz="3200" dirty="0"/>
          </a:p>
        </p:txBody>
      </p:sp>
      <p:sp>
        <p:nvSpPr>
          <p:cNvPr id="3" name="Content Placeholder 2">
            <a:extLst>
              <a:ext uri="{FF2B5EF4-FFF2-40B4-BE49-F238E27FC236}">
                <a16:creationId xmlns:a16="http://schemas.microsoft.com/office/drawing/2014/main" id="{88FB99DB-5069-5217-A0BE-8898AD190C66}"/>
              </a:ext>
            </a:extLst>
          </p:cNvPr>
          <p:cNvSpPr>
            <a:spLocks noGrp="1"/>
          </p:cNvSpPr>
          <p:nvPr>
            <p:ph idx="1"/>
          </p:nvPr>
        </p:nvSpPr>
        <p:spPr>
          <a:xfrm>
            <a:off x="717291" y="985870"/>
            <a:ext cx="10515600" cy="5293632"/>
          </a:xfrm>
        </p:spPr>
        <p:txBody>
          <a:bodyPr>
            <a:normAutofit lnSpcReduction="10000"/>
          </a:bodyPr>
          <a:lstStyle/>
          <a:p>
            <a:r>
              <a:rPr lang="en-US" sz="2000" dirty="0">
                <a:latin typeface="Cambria" panose="02040503050406030204" pitchFamily="18" charset="0"/>
                <a:ea typeface="Cambria" panose="02040503050406030204" pitchFamily="18" charset="0"/>
              </a:rPr>
              <a:t>Enables effective use of data analytics to extract meaningful insights from financial data.</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Improves accuracy and consistency through structured data cleaning and validation.</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better understanding of profitability, expenses, assets, and liabilities.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Reduces manual effort and time required for financial analysis and reporting. Provides clear visualizations for easier interpretation of financial performance.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Supplies cleaned and analyzed data to the audit team for further financial review and</a:t>
            </a:r>
          </a:p>
          <a:p>
            <a:r>
              <a:rPr lang="en-US" sz="2000" dirty="0">
                <a:latin typeface="Cambria" panose="02040503050406030204" pitchFamily="18" charset="0"/>
                <a:ea typeface="Cambria" panose="02040503050406030204" pitchFamily="18" charset="0"/>
              </a:rPr>
              <a:t> compliance.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data-driven decision-making and contributes to business growth and operational efficiency.</a:t>
            </a:r>
          </a:p>
          <a:p>
            <a:endParaRPr lang="en-US" sz="2000" dirty="0">
              <a:latin typeface="Cambria" panose="02040503050406030204" pitchFamily="18" charset="0"/>
              <a:ea typeface="Cambria" panose="02040503050406030204" pitchFamily="18" charset="0"/>
            </a:endParaRPr>
          </a:p>
          <a:p>
            <a:endParaRPr lang="en-IN" dirty="0"/>
          </a:p>
        </p:txBody>
      </p:sp>
      <p:sp>
        <p:nvSpPr>
          <p:cNvPr id="5" name="Slide Number Placeholder 4">
            <a:extLst>
              <a:ext uri="{FF2B5EF4-FFF2-40B4-BE49-F238E27FC236}">
                <a16:creationId xmlns:a16="http://schemas.microsoft.com/office/drawing/2014/main" id="{A1694F49-30F5-2712-6A64-7116AAE97C99}"/>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Tree>
    <p:extLst>
      <p:ext uri="{BB962C8B-B14F-4D97-AF65-F5344CB8AC3E}">
        <p14:creationId xmlns:p14="http://schemas.microsoft.com/office/powerpoint/2010/main" val="314416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3645-BFE6-0CD0-D3A3-2F533D4B0736}"/>
              </a:ext>
            </a:extLst>
          </p:cNvPr>
          <p:cNvSpPr>
            <a:spLocks noGrp="1"/>
          </p:cNvSpPr>
          <p:nvPr>
            <p:ph type="title"/>
          </p:nvPr>
        </p:nvSpPr>
        <p:spPr>
          <a:xfrm>
            <a:off x="838200" y="-90227"/>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3200" dirty="0"/>
          </a:p>
        </p:txBody>
      </p:sp>
      <p:sp>
        <p:nvSpPr>
          <p:cNvPr id="3" name="Content Placeholder 2">
            <a:extLst>
              <a:ext uri="{FF2B5EF4-FFF2-40B4-BE49-F238E27FC236}">
                <a16:creationId xmlns:a16="http://schemas.microsoft.com/office/drawing/2014/main" id="{700F0C1C-1397-F5E0-61D0-C861D0F44836}"/>
              </a:ext>
            </a:extLst>
          </p:cNvPr>
          <p:cNvSpPr>
            <a:spLocks noGrp="1"/>
          </p:cNvSpPr>
          <p:nvPr>
            <p:ph idx="1"/>
          </p:nvPr>
        </p:nvSpPr>
        <p:spPr>
          <a:xfrm>
            <a:off x="838200" y="990892"/>
            <a:ext cx="10778412" cy="5251287"/>
          </a:xfrm>
        </p:spPr>
        <p:txBody>
          <a:bodyPr>
            <a:normAutofit fontScale="92500"/>
          </a:bodyPr>
          <a:lstStyle/>
          <a:p>
            <a:pPr marL="0" indent="0">
              <a:buNone/>
            </a:pPr>
            <a:r>
              <a:rPr lang="en-IN" sz="2600" b="1" dirty="0">
                <a:latin typeface="Cambria" panose="02040503050406030204" pitchFamily="18" charset="0"/>
                <a:ea typeface="Cambria" panose="02040503050406030204" pitchFamily="18" charset="0"/>
              </a:rPr>
              <a:t>SOFTWARE REQUIREMENTS / TECHNOLOGIES USED:</a:t>
            </a:r>
          </a:p>
          <a:p>
            <a:pPr marL="0" indent="0">
              <a:buNone/>
            </a:pPr>
            <a:endParaRPr lang="en-IN" sz="2400" b="1"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Tally Prime</a:t>
            </a:r>
            <a:r>
              <a:rPr lang="en-US" sz="2200" dirty="0">
                <a:latin typeface="Cambria" panose="02040503050406030204" pitchFamily="18" charset="0"/>
                <a:ea typeface="Cambria" panose="02040503050406030204" pitchFamily="18" charset="0"/>
              </a:rPr>
              <a:t> – Used for maintaining accounting records, financial statements, vouchers, and statutory data.</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Microsoft Excel</a:t>
            </a:r>
            <a:r>
              <a:rPr lang="en-US" sz="2200" dirty="0">
                <a:latin typeface="Cambria" panose="02040503050406030204" pitchFamily="18" charset="0"/>
                <a:ea typeface="Cambria" panose="02040503050406030204" pitchFamily="18" charset="0"/>
              </a:rPr>
              <a:t> – Used for data extraction, document handling, data cleaning, Excel formulas, and preparation of structured financial reports.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a:t>
            </a:r>
            <a:r>
              <a:rPr lang="en-US" sz="2200" dirty="0">
                <a:latin typeface="Cambria" panose="02040503050406030204" pitchFamily="18" charset="0"/>
                <a:ea typeface="Cambria" panose="02040503050406030204" pitchFamily="18" charset="0"/>
              </a:rPr>
              <a:t> – Used for performing data analytics, trend analysis, and generating business insights.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 Libraries</a:t>
            </a:r>
            <a:r>
              <a:rPr lang="en-US" sz="2200" dirty="0">
                <a:latin typeface="Cambria" panose="02040503050406030204" pitchFamily="18" charset="0"/>
                <a:ea typeface="Cambria" panose="02040503050406030204" pitchFamily="18" charset="0"/>
              </a:rPr>
              <a:t>:</a:t>
            </a:r>
          </a:p>
          <a:p>
            <a:pPr lvl="1"/>
            <a:r>
              <a:rPr lang="en-US" sz="2200" b="1" dirty="0">
                <a:latin typeface="Cambria" panose="02040503050406030204" pitchFamily="18" charset="0"/>
                <a:ea typeface="Cambria" panose="02040503050406030204" pitchFamily="18" charset="0"/>
              </a:rPr>
              <a:t>Pandas</a:t>
            </a:r>
            <a:r>
              <a:rPr lang="en-US" sz="2200" dirty="0">
                <a:latin typeface="Cambria" panose="02040503050406030204" pitchFamily="18" charset="0"/>
                <a:ea typeface="Cambria" panose="02040503050406030204" pitchFamily="18" charset="0"/>
              </a:rPr>
              <a:t> – Used for data handling, cleaning, transformation, and analysis</a:t>
            </a:r>
          </a:p>
          <a:p>
            <a:pPr lvl="1"/>
            <a:r>
              <a:rPr lang="en-US" sz="2200" b="1" dirty="0">
                <a:latin typeface="Cambria" panose="02040503050406030204" pitchFamily="18" charset="0"/>
                <a:ea typeface="Cambria" panose="02040503050406030204" pitchFamily="18" charset="0"/>
              </a:rPr>
              <a:t>Matplotlib</a:t>
            </a:r>
            <a:r>
              <a:rPr lang="en-US" sz="2200" dirty="0">
                <a:latin typeface="Cambria" panose="02040503050406030204" pitchFamily="18" charset="0"/>
                <a:ea typeface="Cambria" panose="02040503050406030204" pitchFamily="18" charset="0"/>
              </a:rPr>
              <a:t> – Used for creating charts, graphs, and trend visualizations of financial data</a:t>
            </a:r>
          </a:p>
          <a:p>
            <a:pPr marL="0" indent="0">
              <a:buNone/>
            </a:pPr>
            <a:endParaRPr lang="en-IN" dirty="0"/>
          </a:p>
        </p:txBody>
      </p:sp>
      <p:sp>
        <p:nvSpPr>
          <p:cNvPr id="4" name="Date Placeholder 3">
            <a:extLst>
              <a:ext uri="{FF2B5EF4-FFF2-40B4-BE49-F238E27FC236}">
                <a16:creationId xmlns:a16="http://schemas.microsoft.com/office/drawing/2014/main" id="{8F1E00F2-F360-74F4-7413-1EB4C541A868}"/>
              </a:ext>
            </a:extLst>
          </p:cNvPr>
          <p:cNvSpPr>
            <a:spLocks noGrp="1"/>
          </p:cNvSpPr>
          <p:nvPr>
            <p:ph type="dt" sz="half" idx="10"/>
          </p:nvPr>
        </p:nvSpPr>
        <p:spPr/>
        <p:txBody>
          <a:bodyPr/>
          <a:lstStyle/>
          <a:p>
            <a:fld id="{864BFFB7-4443-4602-A990-B076C1CFE86C}" type="datetime1">
              <a:rPr lang="en-IN" smtClean="0"/>
              <a:pPr/>
              <a:t>02-02-2026</a:t>
            </a:fld>
            <a:endParaRPr lang="en-IN" dirty="0"/>
          </a:p>
        </p:txBody>
      </p:sp>
      <p:sp>
        <p:nvSpPr>
          <p:cNvPr id="5" name="Slide Number Placeholder 4">
            <a:extLst>
              <a:ext uri="{FF2B5EF4-FFF2-40B4-BE49-F238E27FC236}">
                <a16:creationId xmlns:a16="http://schemas.microsoft.com/office/drawing/2014/main" id="{DE94D16C-6D33-1AFF-CD32-761939BAAA8E}"/>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1248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330547127"/>
              </p:ext>
            </p:extLst>
          </p:nvPr>
        </p:nvGraphicFramePr>
        <p:xfrm>
          <a:off x="838200" y="867747"/>
          <a:ext cx="10741090" cy="5019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
        <p:nvSpPr>
          <p:cNvPr id="3" name="Content Placeholder 2"/>
          <p:cNvSpPr>
            <a:spLocks noGrp="1"/>
          </p:cNvSpPr>
          <p:nvPr>
            <p:ph idx="1"/>
          </p:nvPr>
        </p:nvSpPr>
        <p:spPr>
          <a:xfrm>
            <a:off x="838200" y="961436"/>
            <a:ext cx="10515600" cy="4351338"/>
          </a:xfrm>
        </p:spPr>
        <p:txBody>
          <a:bodyPr/>
          <a:lstStyle/>
          <a:p>
            <a:pPr marL="0" indent="0">
              <a:buNone/>
            </a:pPr>
            <a:endParaRPr lang="en-US" dirty="0"/>
          </a:p>
          <a:p>
            <a:pPr marL="0" indent="0">
              <a:buNone/>
            </a:pPr>
            <a:endParaRPr lang="en-US" dirty="0"/>
          </a:p>
          <a:p>
            <a:pPr marL="0" indent="0">
              <a:buNone/>
            </a:pPr>
            <a:r>
              <a:rPr lang="en-US" dirty="0"/>
              <a:t> https://github.com/Pre606/Data-Analysis-at-Bhardeswar-</a:t>
            </a:r>
          </a:p>
          <a:p>
            <a:pPr marL="0" indent="0">
              <a:buNone/>
            </a:pPr>
            <a:r>
              <a:rPr lang="en-US" dirty="0"/>
              <a:t> Tea-Plantation-Company-Private-Limited-</a:t>
            </a:r>
          </a:p>
        </p:txBody>
      </p:sp>
    </p:spTree>
    <p:extLst>
      <p:ext uri="{BB962C8B-B14F-4D97-AF65-F5344CB8AC3E}">
        <p14:creationId xmlns:p14="http://schemas.microsoft.com/office/powerpoint/2010/main" val="295621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16</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7316</TotalTime>
  <Words>1576</Words>
  <Application>Microsoft Office PowerPoint</Application>
  <PresentationFormat>Widescreen</PresentationFormat>
  <Paragraphs>168</Paragraphs>
  <Slides>17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Cambria</vt:lpstr>
      <vt:lpstr>Times New Roman</vt:lpstr>
      <vt:lpstr>Verdana</vt:lpstr>
      <vt:lpstr>Wingdings</vt:lpstr>
      <vt:lpstr>Office Theme</vt:lpstr>
      <vt:lpstr>PowerPoint Presentation</vt:lpstr>
      <vt:lpstr>CONTENT </vt:lpstr>
      <vt:lpstr>About Bhardeswar Tea Plantation Company Private Limited </vt:lpstr>
      <vt:lpstr>About Bhardeswar Tea Plantation Company Private Limited </vt:lpstr>
      <vt:lpstr>Working domain or the technology</vt:lpstr>
      <vt:lpstr>About my team and reporting Manager</vt:lpstr>
      <vt:lpstr>Challenges Faced in Internship</vt:lpstr>
      <vt:lpstr>Objectives of the work</vt:lpstr>
      <vt:lpstr>Literature Review</vt:lpstr>
      <vt:lpstr>Proposed Work</vt:lpstr>
      <vt:lpstr>Problem Statement</vt:lpstr>
      <vt:lpstr>Advantages of Proposed Work</vt:lpstr>
      <vt:lpstr>System Requirements</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Preetha Guha</cp:lastModifiedBy>
  <cp:revision>723</cp:revision>
  <dcterms:created xsi:type="dcterms:W3CDTF">2022-10-14T07:18:17Z</dcterms:created>
  <dcterms:modified xsi:type="dcterms:W3CDTF">2026-02-02T05:47:54Z</dcterms:modified>
</cp:coreProperties>
</file>